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E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" cy="4114800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37160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Garamond"/>
              </a:defRPr>
            </a:pPr>
            <a:r>
              <a:t>DATA-DRIVEN RESOURCE ALLOCATION OF ITNs IN GHANA</a:t>
            </a:r>
          </a:p>
          <a:p>
            <a:pPr>
              <a:spcBef>
                <a:spcPts val="1400"/>
              </a:spcBef>
              <a:defRPr sz="1700">
                <a:solidFill>
                  <a:srgbClr val="F0DCDC"/>
                </a:solidFill>
                <a:latin typeface="Candara"/>
              </a:defRPr>
            </a:pPr>
            <a:r>
              <a:t>An Uncertainty-Aware Decision Framework for Allocating 50,000 Indivisible Nets Across 50 Northern Districts</a:t>
            </a:r>
          </a:p>
          <a:p>
            <a:pPr>
              <a:spcBef>
                <a:spcPts val="2800"/>
              </a:spcBef>
              <a:defRPr sz="1300">
                <a:solidFill>
                  <a:srgbClr val="C59B27"/>
                </a:solidFill>
                <a:latin typeface="Candara"/>
              </a:defRPr>
            </a:pPr>
            <a:r>
              <a:t>Advisory Presentation to the National Malaria Elimination Programme (NMEP)</a:t>
            </a:r>
            <a:br/>
            <a:r>
              <a:t>Ministry of Health, Republic of Ghana</a:t>
            </a:r>
            <a:br/>
            <a:br/>
            <a:r>
              <a:t>Group 3 · Master of Science in Intelligent Computing Systems (MICS 2028)</a:t>
            </a:r>
            <a:br/>
            <a:r>
              <a:t>Ashesi University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2011680"/>
            <a:ext cx="256032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shes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286000"/>
            <a:ext cx="2194560" cy="16976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83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3F43"/>
                </a:solidFill>
                <a:latin typeface="Candara"/>
              </a:defRPr>
            </a:pPr>
            <a:r>
              <a:t>EXECUTIVE SUMMARY</a:t>
            </a:r>
          </a:p>
          <a:p>
            <a:pPr>
              <a:defRPr sz="2300" b="1">
                <a:solidFill>
                  <a:srgbClr val="5E1214"/>
                </a:solidFill>
                <a:latin typeface="Garamond"/>
              </a:defRPr>
            </a:pPr>
            <a:r>
              <a:t>The Decision Context: Allocating 50,000 Indivisible Nets</a:t>
            </a:r>
          </a:p>
        </p:txBody>
      </p:sp>
      <p:pic>
        <p:nvPicPr>
          <p:cNvPr id="4" name="Picture 3" descr="ashes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886539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5A626A"/>
                </a:solidFill>
                <a:latin typeface="Candara"/>
              </a:defRPr>
            </a:pPr>
            <a:r>
              <a:t>Ashesi University · ICS553 Machine Learning Essentials · Group 3 · Prosit 1 Advisory Brief</a:t>
            </a:r>
          </a:p>
          <a:p>
            <a:pPr algn="r">
              <a:defRPr sz="900">
                <a:solidFill>
                  <a:srgbClr val="5A626A"/>
                </a:solidFill>
                <a:latin typeface="Candara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8F9FA"/>
          </a:solidFill>
          <a:ln>
            <a:solidFill>
              <a:srgbClr val="E2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E1214"/>
                </a:solidFill>
                <a:latin typeface="Garamond"/>
              </a:defRPr>
            </a:pPr>
            <a:r>
              <a:t>Operational Mandate &amp; Constraints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5E1214"/>
                </a:solidFill>
                <a:latin typeface="Candara"/>
              </a:rPr>
              <a:t>• Strict Resource Ceiling:</a:t>
            </a:r>
            <a:r>
              <a:rPr sz="1100">
                <a:solidFill>
                  <a:srgbClr val="1E2022"/>
                </a:solidFill>
                <a:latin typeface="Candara"/>
              </a:rPr>
              <a:t> Exactly 50,000 long-lasting ITNs available for allocation.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5E1214"/>
                </a:solidFill>
                <a:latin typeface="Candara"/>
              </a:rPr>
              <a:t>• Operational Scope:</a:t>
            </a:r>
            <a:r>
              <a:rPr sz="1100">
                <a:solidFill>
                  <a:srgbClr val="1E2022"/>
                </a:solidFill>
                <a:latin typeface="Candara"/>
              </a:rPr>
              <a:t> 50 administrative districts across Northern, Upper East, and Upper West regions.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5E1214"/>
                </a:solidFill>
                <a:latin typeface="Candara"/>
              </a:rPr>
              <a:t>• Physical Indivisibility:</a:t>
            </a:r>
            <a:r>
              <a:rPr sz="1100">
                <a:solidFill>
                  <a:srgbClr val="1E2022"/>
                </a:solidFill>
                <a:latin typeface="Candara"/>
              </a:rPr>
              <a:t> Integer allocations required (no fractional nets; resolved via Hamilton Apportionment).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5E1214"/>
                </a:solidFill>
                <a:latin typeface="Candara"/>
              </a:rPr>
              <a:t>• Asymmetric Minimax Loss:</a:t>
            </a:r>
            <a:r>
              <a:rPr sz="1100">
                <a:solidFill>
                  <a:srgbClr val="1E2022"/>
                </a:solidFill>
                <a:latin typeface="Candara"/>
              </a:rPr>
              <a:t> Under-allocating to an epidemic zone costs lives; over-allocating incurs only minor warehousing friction. We evaluate risk at the 95% upper bound.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8F9FA"/>
          </a:solidFill>
          <a:ln>
            <a:solidFill>
              <a:srgbClr val="E2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B33939"/>
                </a:solidFill>
                <a:latin typeface="Garamond"/>
              </a:defRPr>
            </a:pPr>
            <a:r>
              <a:t>Why The Naive Heuristic Fails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B33939"/>
                </a:solidFill>
                <a:latin typeface="Candara"/>
              </a:rPr>
              <a:t>⚠ The Clinic Access Bias:</a:t>
            </a:r>
            <a:r>
              <a:rPr sz="1100">
                <a:solidFill>
                  <a:srgbClr val="1E2022"/>
                </a:solidFill>
                <a:latin typeface="Candara"/>
              </a:rPr>
              <a:t> Raw cases measure clinic attendance, not infection. Rural areas with no clinics report 0 cases!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B33939"/>
                </a:solidFill>
                <a:latin typeface="Candara"/>
              </a:rPr>
              <a:t>⚠ The Referral Hospital Trap:</a:t>
            </a:r>
            <a:r>
              <a:rPr sz="1100">
                <a:solidFill>
                  <a:srgbClr val="1E2022"/>
                </a:solidFill>
                <a:latin typeface="Candara"/>
              </a:rPr>
              <a:t> Regional hospitals (Bolgatanga, Wa) log thousands of cases from patients travelling from outside districts.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B33939"/>
                </a:solidFill>
                <a:latin typeface="Candara"/>
              </a:rPr>
              <a:t>⚠ Satiation &amp; Diminishing Utility:</a:t>
            </a:r>
            <a:r>
              <a:rPr sz="1100">
                <a:solidFill>
                  <a:srgbClr val="1E2022"/>
                </a:solidFill>
                <a:latin typeface="Candara"/>
              </a:rPr>
              <a:t> Upper East already has 79.6% net coverage. Dumping nets there gives zero marginal benefit.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B33939"/>
                </a:solidFill>
                <a:latin typeface="Candara"/>
              </a:rPr>
              <a:t>⚠ Ignoring Over-dispersion:</a:t>
            </a:r>
            <a:r>
              <a:rPr sz="1100">
                <a:solidFill>
                  <a:srgbClr val="1E2022"/>
                </a:solidFill>
                <a:latin typeface="Candara"/>
              </a:rPr>
              <a:t> High localized spikes are treated as ordinary noise, leaving high-risk zones under-protected.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83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3F43"/>
                </a:solidFill>
                <a:latin typeface="Candara"/>
              </a:defRPr>
            </a:pPr>
            <a:r>
              <a:t>THEME B1 GEOSPATIAL EDA</a:t>
            </a:r>
          </a:p>
          <a:p>
            <a:pPr>
              <a:defRPr sz="2300" b="1">
                <a:solidFill>
                  <a:srgbClr val="5E1214"/>
                </a:solidFill>
                <a:latin typeface="Garamond"/>
              </a:defRPr>
            </a:pPr>
            <a:r>
              <a:t>Geospatial Surveillance &amp; Survey Data Divide</a:t>
            </a:r>
          </a:p>
        </p:txBody>
      </p:sp>
      <p:pic>
        <p:nvPicPr>
          <p:cNvPr id="4" name="Picture 3" descr="ashes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886539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5A626A"/>
                </a:solidFill>
                <a:latin typeface="Candara"/>
              </a:defRPr>
            </a:pPr>
            <a:r>
              <a:t>Ashesi University · ICS553 Machine Learning Essentials · Group 3 · Prosit 1 Advisory Brief</a:t>
            </a:r>
          </a:p>
          <a:p>
            <a:pPr algn="r">
              <a:defRPr sz="900">
                <a:solidFill>
                  <a:srgbClr val="5A626A"/>
                </a:solidFill>
                <a:latin typeface="Candara"/>
              </a:defRPr>
            </a:pPr>
            <a:r>
              <a:t>3</a:t>
            </a:r>
          </a:p>
        </p:txBody>
      </p:sp>
      <p:pic>
        <p:nvPicPr>
          <p:cNvPr id="6" name="Picture 5" descr="b1_data_avail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4023360" cy="5470149"/>
          </a:xfrm>
          <a:prstGeom prst="rect">
            <a:avLst/>
          </a:prstGeom>
        </p:spPr>
      </p:pic>
      <p:pic>
        <p:nvPicPr>
          <p:cNvPr id="7" name="Picture 6" descr="b1_district_case_r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71600"/>
            <a:ext cx="4023360" cy="60101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144000" y="1371600"/>
            <a:ext cx="2331720" cy="4846320"/>
          </a:xfrm>
          <a:prstGeom prst="roundRect">
            <a:avLst/>
          </a:prstGeom>
          <a:solidFill>
            <a:srgbClr val="F8F9FA"/>
          </a:solidFill>
          <a:ln>
            <a:solidFill>
              <a:srgbClr val="E2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81160" y="1554480"/>
            <a:ext cx="2057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E1214"/>
                </a:solidFill>
                <a:latin typeface="Garamond"/>
              </a:defRPr>
            </a:pPr>
            <a:r>
              <a:t>Cartographic Insights</a:t>
            </a:r>
          </a:p>
          <a:p>
            <a:pPr>
              <a:spcBef>
                <a:spcPts val="1000"/>
              </a:spcBef>
              <a:defRPr sz="1000">
                <a:solidFill>
                  <a:srgbClr val="1E2022"/>
                </a:solidFill>
                <a:latin typeface="Candara"/>
              </a:defRPr>
            </a:pPr>
            <a:r>
              <a:t>1. Severe Surveillance Divide: 50 northern districts have DHIMS-2 records; 210 southern districts have zero routine data.</a:t>
            </a:r>
          </a:p>
          <a:p>
            <a:pPr>
              <a:spcBef>
                <a:spcPts val="1000"/>
              </a:spcBef>
              <a:defRPr sz="1000">
                <a:solidFill>
                  <a:srgbClr val="1E2022"/>
                </a:solidFill>
                <a:latin typeface="Candara"/>
              </a:defRPr>
            </a:pPr>
            <a:r>
              <a:t>2. Survey Density: DHS 2022 sampled 618 clusters nationwide, but rural northern clusters carry wide sampling errors.</a:t>
            </a:r>
          </a:p>
          <a:p>
            <a:pPr>
              <a:spcBef>
                <a:spcPts val="1000"/>
              </a:spcBef>
              <a:defRPr sz="1000">
                <a:solidFill>
                  <a:srgbClr val="1E2022"/>
                </a:solidFill>
                <a:latin typeface="Candara"/>
              </a:defRPr>
            </a:pPr>
            <a:r>
              <a:t>3. Survey Weighting: Unweighted net ownership (70.96%) overstates true weighted ownership (66.77%) by 4.19 percentage points.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83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3F43"/>
                </a:solidFill>
                <a:latin typeface="Candara"/>
              </a:defRPr>
            </a:pPr>
            <a:r>
              <a:t>THEME A STATISTICAL MODELING</a:t>
            </a:r>
          </a:p>
          <a:p>
            <a:pPr>
              <a:defRPr sz="2300" b="1">
                <a:solidFill>
                  <a:srgbClr val="5E1214"/>
                </a:solidFill>
                <a:latin typeface="Garamond"/>
              </a:defRPr>
            </a:pPr>
            <a:r>
              <a:t>Over-Dispersion: Why Poisson Regression Crashed</a:t>
            </a:r>
          </a:p>
        </p:txBody>
      </p:sp>
      <p:pic>
        <p:nvPicPr>
          <p:cNvPr id="4" name="Picture 3" descr="ashes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886539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5A626A"/>
                </a:solidFill>
                <a:latin typeface="Candara"/>
              </a:defRPr>
            </a:pPr>
            <a:r>
              <a:t>Ashesi University · ICS553 Machine Learning Essentials · Group 3 · Prosit 1 Advisory Brief</a:t>
            </a:r>
          </a:p>
          <a:p>
            <a:pPr algn="r">
              <a:defRPr sz="900">
                <a:solidFill>
                  <a:srgbClr val="5A626A"/>
                </a:solidFill>
                <a:latin typeface="Candara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029200" cy="4846320"/>
          </a:xfrm>
          <a:prstGeom prst="roundRect">
            <a:avLst/>
          </a:prstGeom>
          <a:solidFill>
            <a:srgbClr val="F8F9FA"/>
          </a:solidFill>
          <a:ln>
            <a:solidFill>
              <a:srgbClr val="E2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E1214"/>
                </a:solidFill>
                <a:latin typeface="Garamond"/>
              </a:defRPr>
            </a:pPr>
            <a:r>
              <a:t>Mathematical Proof of Poisson Failure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A83F43"/>
                </a:solidFill>
                <a:latin typeface="Candara"/>
              </a:rPr>
              <a:t>The Equidispersion Assumption:</a:t>
            </a:r>
            <a:r>
              <a:rPr sz="1100">
                <a:solidFill>
                  <a:srgbClr val="1E2022"/>
                </a:solidFill>
                <a:latin typeface="Candara"/>
              </a:rPr>
              <a:t> Poisson requires Variance = Mean (Ratio = 1.0).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A83F43"/>
                </a:solidFill>
                <a:latin typeface="Candara"/>
              </a:rPr>
              <a:t>Extreme Real-World Dispersion:</a:t>
            </a:r>
            <a:r>
              <a:rPr sz="1100">
                <a:solidFill>
                  <a:srgbClr val="1E2022"/>
                </a:solidFill>
                <a:latin typeface="Candara"/>
              </a:rPr>
              <a:t> In northern Ghana, Variance / Mean = 77,183! Observed SD is 122,882 vs Poisson SD of 442 (278x too narrow!).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A83F43"/>
                </a:solidFill>
                <a:latin typeface="Candara"/>
              </a:rPr>
              <a:t>Survives Population Offset:</a:t>
            </a:r>
            <a:r>
              <a:rPr sz="1100">
                <a:solidFill>
                  <a:srgbClr val="1E2022"/>
                </a:solidFill>
                <a:latin typeface="Candara"/>
              </a:rPr>
              <a:t> Pearson chi2/df = 54,147. Poisson fails catastrophically even after adjusting for district population.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A83F43"/>
                </a:solidFill>
                <a:latin typeface="Candara"/>
              </a:rPr>
              <a:t>Negative Binomial (NB2):</a:t>
            </a:r>
            <a:r>
              <a:rPr sz="1100">
                <a:solidFill>
                  <a:srgbClr val="1E2022"/>
                </a:solidFill>
                <a:latin typeface="Candara"/>
              </a:rPr>
              <a:t> Adds dispersion parameter (alpha = 0.2677), allowing Var = mu + alpha*mu^2. Beats Poisson by 2,393,669 AIC points!</a:t>
            </a:r>
          </a:p>
        </p:txBody>
      </p:sp>
      <p:pic>
        <p:nvPicPr>
          <p:cNvPr id="8" name="Picture 7" descr="a3_poisson_vs_n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371600"/>
            <a:ext cx="5394960" cy="34084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83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3F43"/>
                </a:solidFill>
                <a:latin typeface="Candara"/>
              </a:defRPr>
            </a:pPr>
            <a:r>
              <a:t>THEME A SAMPLING THEORY</a:t>
            </a:r>
          </a:p>
          <a:p>
            <a:pPr>
              <a:defRPr sz="2300" b="1">
                <a:solidFill>
                  <a:srgbClr val="5E1214"/>
                </a:solidFill>
                <a:latin typeface="Garamond"/>
              </a:defRPr>
            </a:pPr>
            <a:r>
              <a:t>Honest Uncertainty: The Two-Stage Cluster Bootstrap</a:t>
            </a:r>
          </a:p>
        </p:txBody>
      </p:sp>
      <p:pic>
        <p:nvPicPr>
          <p:cNvPr id="4" name="Picture 3" descr="ashes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886539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5A626A"/>
                </a:solidFill>
                <a:latin typeface="Candara"/>
              </a:defRPr>
            </a:pPr>
            <a:r>
              <a:t>Ashesi University · ICS553 Machine Learning Essentials · Group 3 · Prosit 1 Advisory Brief</a:t>
            </a:r>
          </a:p>
          <a:p>
            <a:pPr algn="r">
              <a:defRPr sz="900">
                <a:solidFill>
                  <a:srgbClr val="5A626A"/>
                </a:solidFill>
                <a:latin typeface="Candara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029200" cy="4846320"/>
          </a:xfrm>
          <a:prstGeom prst="roundRect">
            <a:avLst/>
          </a:prstGeom>
          <a:solidFill>
            <a:srgbClr val="F8F9FA"/>
          </a:solidFill>
          <a:ln>
            <a:solidFill>
              <a:srgbClr val="E2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E1214"/>
                </a:solidFill>
                <a:latin typeface="Garamond"/>
              </a:defRPr>
            </a:pPr>
            <a:r>
              <a:t>Survey Design Effects &amp; False Precision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A83F43"/>
                </a:solidFill>
                <a:latin typeface="Candara"/>
              </a:rPr>
              <a:t>Two-Stage Sampling Structure:</a:t>
            </a:r>
            <a:r>
              <a:rPr sz="1100">
                <a:solidFill>
                  <a:srgbClr val="1E2022"/>
                </a:solidFill>
                <a:latin typeface="Candara"/>
              </a:rPr>
              <a:t> DHS samples clusters (villages) first, then 25-30 households per cluster.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A83F43"/>
                </a:solidFill>
                <a:latin typeface="Candara"/>
              </a:rPr>
              <a:t>Intra-Cluster Correlation:</a:t>
            </a:r>
            <a:r>
              <a:rPr sz="1100">
                <a:solidFill>
                  <a:srgbClr val="1E2022"/>
                </a:solidFill>
                <a:latin typeface="Candara"/>
              </a:rPr>
              <a:t> Families in the same village share the same standing water and risk. They are NOT independent.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A83F43"/>
                </a:solidFill>
                <a:latin typeface="Candara"/>
              </a:rPr>
              <a:t>Naive Bootstrap Danger:</a:t>
            </a:r>
            <a:r>
              <a:rPr sz="1100">
                <a:solidFill>
                  <a:srgbClr val="1E2022"/>
                </a:solidFill>
                <a:latin typeface="Candara"/>
              </a:rPr>
              <a:t> Resampling households independently pretends you have 17,933 independent facts, shrinking CI to 7.17 pp (false precision!).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A83F43"/>
                </a:solidFill>
                <a:latin typeface="Candara"/>
              </a:rPr>
              <a:t>Honest Cluster Bootstrap:</a:t>
            </a:r>
            <a:r>
              <a:rPr sz="1100">
                <a:solidFill>
                  <a:srgbClr val="1E2022"/>
                </a:solidFill>
                <a:latin typeface="Candara"/>
              </a:rPr>
              <a:t> Resampling clusters first gives a 15.20 pp interval — 2.12x wider (DEFF = 4.50)!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A83F43"/>
                </a:solidFill>
                <a:latin typeface="Candara"/>
              </a:rPr>
              <a:t>Validation Benchmark:</a:t>
            </a:r>
            <a:r>
              <a:rPr sz="1100">
                <a:solidFill>
                  <a:srgbClr val="1E2022"/>
                </a:solidFill>
                <a:latin typeface="Candara"/>
              </a:rPr>
              <a:t> Survey-weighted net ownership reproduces published 2022 DHS report to 0.09 pp (67.69% vs 67.60%).</a:t>
            </a:r>
          </a:p>
        </p:txBody>
      </p:sp>
      <p:pic>
        <p:nvPicPr>
          <p:cNvPr id="8" name="Picture 7" descr="a4_bootstrap_ci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828800"/>
            <a:ext cx="5394960" cy="25351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83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3F43"/>
                </a:solidFill>
                <a:latin typeface="Candara"/>
              </a:defRPr>
            </a:pPr>
            <a:r>
              <a:t>THEME B PIPELINE ENGINEERING</a:t>
            </a:r>
          </a:p>
          <a:p>
            <a:pPr>
              <a:defRPr sz="2300" b="1">
                <a:solidFill>
                  <a:srgbClr val="5E1214"/>
                </a:solidFill>
                <a:latin typeface="Garamond"/>
              </a:defRPr>
            </a:pPr>
            <a:r>
              <a:t>Pipeline Discipline &amp; The Leakage Audit</a:t>
            </a:r>
          </a:p>
        </p:txBody>
      </p:sp>
      <p:pic>
        <p:nvPicPr>
          <p:cNvPr id="4" name="Picture 3" descr="ashes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886539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5A626A"/>
                </a:solidFill>
                <a:latin typeface="Candara"/>
              </a:defRPr>
            </a:pPr>
            <a:r>
              <a:t>Ashesi University · ICS553 Machine Learning Essentials · Group 3 · Prosit 1 Advisory Brief</a:t>
            </a:r>
          </a:p>
          <a:p>
            <a:pPr algn="r">
              <a:defRPr sz="900">
                <a:solidFill>
                  <a:srgbClr val="5A626A"/>
                </a:solidFill>
                <a:latin typeface="Candara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8F9FA"/>
          </a:solidFill>
          <a:ln>
            <a:solidFill>
              <a:srgbClr val="E2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E1214"/>
                </a:solidFill>
                <a:latin typeface="Garamond"/>
              </a:defRPr>
            </a:pPr>
            <a:r>
              <a:t>1. Preprocessing Leak</a:t>
            </a:r>
          </a:p>
          <a:p>
            <a:pPr>
              <a:spcBef>
                <a:spcPts val="1000"/>
              </a:spcBef>
              <a:defRPr sz="1100">
                <a:latin typeface="Candara"/>
              </a:defRPr>
            </a:pPr>
            <a:r>
              <a:t>• Scaling/imputing before split leaks test distribution into training.</a:t>
            </a:r>
            <a:br/>
            <a:br/>
            <a:r>
              <a:t>• Deflates test RMSE by 212 cases (87,144 vs honest 87,356).</a:t>
            </a:r>
            <a:br/>
            <a:br/>
            <a:r>
              <a:t>• Prevention: Strict Pipeline and ColumnTransformer encapsulation.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F8F9FA"/>
          </a:solidFill>
          <a:ln>
            <a:solidFill>
              <a:srgbClr val="E2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64592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33939"/>
                </a:solidFill>
                <a:latin typeface="Garamond"/>
              </a:defRPr>
            </a:pPr>
            <a:r>
              <a:t>2. Target Encoding Catastrophe</a:t>
            </a:r>
          </a:p>
          <a:p>
            <a:pPr>
              <a:spcBef>
                <a:spcPts val="1000"/>
              </a:spcBef>
              <a:defRPr sz="1100">
                <a:latin typeface="Candara"/>
              </a:defRPr>
            </a:pPr>
            <a:r>
              <a:t>• Encoding district by target mean without out-of-fold regularization.</a:t>
            </a:r>
            <a:br/>
            <a:br/>
            <a:r>
              <a:t>• Model memorizes training targets, faking R² = 1.0000 (honest 0.4905).</a:t>
            </a:r>
            <a:br/>
            <a:br/>
            <a:r>
              <a:t>• Prevention: Target encoding rejected entirely.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F8F9FA"/>
          </a:solidFill>
          <a:ln>
            <a:solidFill>
              <a:srgbClr val="E2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164592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E1214"/>
                </a:solidFill>
                <a:latin typeface="Garamond"/>
              </a:defRPr>
            </a:pPr>
            <a:r>
              <a:t>3. Spatial Autocorrelation</a:t>
            </a:r>
          </a:p>
          <a:p>
            <a:pPr>
              <a:spcBef>
                <a:spcPts val="1000"/>
              </a:spcBef>
              <a:defRPr sz="1100">
                <a:latin typeface="Candara"/>
              </a:defRPr>
            </a:pPr>
            <a:r>
              <a:t>• Random 80/20 train/test splits place neighboring districts on both sides.</a:t>
            </a:r>
            <a:br/>
            <a:br/>
            <a:r>
              <a:t>• Model 'peeks' at geographic twin; test error drops by 45.5% (47,646 vs 87,356).</a:t>
            </a:r>
            <a:br/>
            <a:br/>
            <a:r>
              <a:t>• Prevention: Region-stratified holdout split.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83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3F43"/>
                </a:solidFill>
                <a:latin typeface="Candara"/>
              </a:defRPr>
            </a:pPr>
            <a:r>
              <a:t>THEME C RESOURCE OPTIMIZATION</a:t>
            </a:r>
          </a:p>
          <a:p>
            <a:pPr>
              <a:defRPr sz="2300" b="1">
                <a:solidFill>
                  <a:srgbClr val="5E1214"/>
                </a:solidFill>
                <a:latin typeface="Garamond"/>
              </a:defRPr>
            </a:pPr>
            <a:r>
              <a:t>The Equitable Need-Weighted Allocation Policy</a:t>
            </a:r>
          </a:p>
        </p:txBody>
      </p:sp>
      <p:pic>
        <p:nvPicPr>
          <p:cNvPr id="4" name="Picture 3" descr="ashes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886539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5A626A"/>
                </a:solidFill>
                <a:latin typeface="Candara"/>
              </a:defRPr>
            </a:pPr>
            <a:r>
              <a:t>Ashesi University · ICS553 Machine Learning Essentials · Group 3 · Prosit 1 Advisory Brief</a:t>
            </a:r>
          </a:p>
          <a:p>
            <a:pPr algn="r">
              <a:defRPr sz="900">
                <a:solidFill>
                  <a:srgbClr val="5A626A"/>
                </a:solidFill>
                <a:latin typeface="Candara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E1214"/>
                </a:solidFill>
                <a:latin typeface="Garamond"/>
              </a:defRPr>
            </a:pPr>
            <a:r>
              <a:t>Three Pillars of the Proposed Allocation Model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A83F43"/>
                </a:solidFill>
                <a:latin typeface="Candara"/>
              </a:rPr>
              <a:t>1. Upper-Bound Epidemic Risk (mu_upper):
</a:t>
            </a:r>
            <a:r>
              <a:rPr sz="1100">
                <a:solidFill>
                  <a:srgbClr val="1E2022"/>
                </a:solidFill>
                <a:latin typeface="Candara"/>
              </a:rPr>
              <a:t> We extract the upper bound of the 95% prediction interval from the Negative Binomial model. This implements an asymmetric minimax hedge, ensuring districts are protected against worst-case epidemic spikes.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A83F43"/>
                </a:solidFill>
                <a:latin typeface="Candara"/>
              </a:rPr>
              <a:t>2. The Unmet Coverage Gap (1 - Coverage):
</a:t>
            </a:r>
            <a:r>
              <a:rPr sz="1100">
                <a:solidFill>
                  <a:srgbClr val="1E2022"/>
                </a:solidFill>
                <a:latin typeface="Candara"/>
              </a:rPr>
              <a:t> Bed nets produce herd immunity. Districts with ~80% coverage experience diminishing marginal returns. Weighting by (1 - coverage/100) directs nets where baseline household ownership is lowest.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A83F43"/>
                </a:solidFill>
                <a:latin typeface="Candara"/>
              </a:rPr>
              <a:t>3. Hamilton Integer Apportionment:
</a:t>
            </a:r>
            <a:r>
              <a:rPr sz="1100">
                <a:solidFill>
                  <a:srgbClr val="1E2022"/>
                </a:solidFill>
                <a:latin typeface="Candara"/>
              </a:rPr>
              <a:t> Guarantees that exactly 50,000 integer nets are allocated (no fractional nets, no budget drops) by awarding floor quotas and distributing remainders to largest fractional deficits.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120640"/>
            <a:ext cx="10728655" cy="1005840"/>
          </a:xfrm>
          <a:prstGeom prst="rect">
            <a:avLst/>
          </a:prstGeom>
          <a:solidFill>
            <a:srgbClr val="5E12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C59B27"/>
                </a:solidFill>
                <a:latin typeface="Candara"/>
              </a:defRPr>
            </a:pPr>
            <a:r>
              <a:t>Weight_i = mu_upper_i  x  (1 - net_coverage_pct_i / 100)        =&gt;        Allocation_i = Hamilton(Weight_i, Total = 50,000)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83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3F43"/>
                </a:solidFill>
                <a:latin typeface="Candara"/>
              </a:defRPr>
            </a:pPr>
            <a:r>
              <a:t>THEME C GEOSPATIAL ALLOCATION</a:t>
            </a:r>
          </a:p>
          <a:p>
            <a:pPr>
              <a:defRPr sz="2300" b="1">
                <a:solidFill>
                  <a:srgbClr val="5E1214"/>
                </a:solidFill>
                <a:latin typeface="Garamond"/>
              </a:defRPr>
            </a:pPr>
            <a:r>
              <a:t>Map Highlight: 50,000 Net Distribution Across Northern Ghana</a:t>
            </a:r>
          </a:p>
        </p:txBody>
      </p:sp>
      <p:pic>
        <p:nvPicPr>
          <p:cNvPr id="4" name="Picture 3" descr="ashes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886539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5A626A"/>
                </a:solidFill>
                <a:latin typeface="Candara"/>
              </a:defRPr>
            </a:pPr>
            <a:r>
              <a:t>Ashesi University · ICS553 Machine Learning Essentials · Group 3 · Prosit 1 Advisory Brief</a:t>
            </a:r>
          </a:p>
          <a:p>
            <a:pPr algn="r">
              <a:defRPr sz="900">
                <a:solidFill>
                  <a:srgbClr val="5A626A"/>
                </a:solidFill>
                <a:latin typeface="Candara"/>
              </a:defRPr>
            </a:pPr>
            <a:r>
              <a:t>8</a:t>
            </a:r>
          </a:p>
        </p:txBody>
      </p:sp>
      <p:pic>
        <p:nvPicPr>
          <p:cNvPr id="6" name="Picture 5" descr="c2_allocation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4572000" cy="7289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0" y="1371600"/>
            <a:ext cx="5760720" cy="4846320"/>
          </a:xfrm>
          <a:prstGeom prst="roundRect">
            <a:avLst/>
          </a:prstGeom>
          <a:solidFill>
            <a:srgbClr val="F8F9FA"/>
          </a:solidFill>
          <a:ln>
            <a:solidFill>
              <a:srgbClr val="E2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55448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E1214"/>
                </a:solidFill>
                <a:latin typeface="Garamond"/>
              </a:defRPr>
            </a:pPr>
            <a:r>
              <a:t>Regional Consignment Shares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A83F43"/>
                </a:solidFill>
                <a:latin typeface="Candara"/>
              </a:rPr>
              <a:t>Northern Region Depot (Tamale):
</a:t>
            </a:r>
            <a:r>
              <a:rPr sz="1100">
                <a:solidFill>
                  <a:srgbClr val="1E2022"/>
                </a:solidFill>
                <a:latin typeface="Candara"/>
              </a:rPr>
              <a:t> 24,980 nets (49.96%) across 26 districts.
Reflects lower baseline net coverage (67.7%) and largest population at risk.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A83F43"/>
                </a:solidFill>
                <a:latin typeface="Candara"/>
              </a:rPr>
              <a:t>Upper East Depot (Bolgatanga):
</a:t>
            </a:r>
            <a:r>
              <a:rPr sz="1100">
                <a:solidFill>
                  <a:srgbClr val="1E2022"/>
                </a:solidFill>
                <a:latin typeface="Candara"/>
              </a:rPr>
              <a:t> 17,547 nets (35.09%) across 13 districts.
High historical caseload, but high baseline coverage (79.6%) dampens allocation.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A83F43"/>
                </a:solidFill>
                <a:latin typeface="Candara"/>
              </a:rPr>
              <a:t>Upper West Depot (Wa):
</a:t>
            </a:r>
            <a:r>
              <a:rPr sz="1100">
                <a:solidFill>
                  <a:srgbClr val="1E2022"/>
                </a:solidFill>
                <a:latin typeface="Candara"/>
              </a:rPr>
              <a:t> 7,473 nets (14.95%) across 11 districts.
Corrected for hospital referral inflation; nets distributed to rural catchments.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83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3F43"/>
                </a:solidFill>
                <a:latin typeface="Candara"/>
              </a:defRPr>
            </a:pPr>
            <a:r>
              <a:t>THEME C POLICY IMPACT</a:t>
            </a:r>
          </a:p>
          <a:p>
            <a:pPr>
              <a:defRPr sz="2300" b="1">
                <a:solidFill>
                  <a:srgbClr val="5E1214"/>
                </a:solidFill>
                <a:latin typeface="Garamond"/>
              </a:defRPr>
            </a:pPr>
            <a:r>
              <a:t>Map Highlight: Net Shifts (Equitable vs. Naive)</a:t>
            </a:r>
          </a:p>
        </p:txBody>
      </p:sp>
      <p:pic>
        <p:nvPicPr>
          <p:cNvPr id="4" name="Picture 3" descr="ashes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886539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5A626A"/>
                </a:solidFill>
                <a:latin typeface="Candara"/>
              </a:defRPr>
            </a:pPr>
            <a:r>
              <a:t>Ashesi University · ICS553 Machine Learning Essentials · Group 3 · Prosit 1 Advisory Brief</a:t>
            </a:r>
          </a:p>
          <a:p>
            <a:pPr algn="r">
              <a:defRPr sz="900">
                <a:solidFill>
                  <a:srgbClr val="5A626A"/>
                </a:solidFill>
                <a:latin typeface="Candara"/>
              </a:defRPr>
            </a:pPr>
            <a:r>
              <a:t>9</a:t>
            </a:r>
          </a:p>
        </p:txBody>
      </p:sp>
      <p:pic>
        <p:nvPicPr>
          <p:cNvPr id="6" name="Picture 5" descr="c3_policy_shift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5486400" cy="6288006"/>
          </a:xfrm>
          <a:prstGeom prst="rect">
            <a:avLst/>
          </a:prstGeom>
        </p:spPr>
      </p:pic>
      <p:pic>
        <p:nvPicPr>
          <p:cNvPr id="7" name="Picture 6" descr="c1_allocation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371600"/>
            <a:ext cx="4937760" cy="36076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83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3F43"/>
                </a:solidFill>
                <a:latin typeface="Candara"/>
              </a:defRPr>
            </a:pPr>
            <a:r>
              <a:t>THEME C POLICY DEFENSE</a:t>
            </a:r>
          </a:p>
          <a:p>
            <a:pPr>
              <a:defRPr sz="2300" b="1">
                <a:solidFill>
                  <a:srgbClr val="5E1214"/>
                </a:solidFill>
                <a:latin typeface="Garamond"/>
              </a:defRPr>
            </a:pPr>
            <a:r>
              <a:t>Deep Dive: The Referral Hospital Trap Explained</a:t>
            </a:r>
          </a:p>
        </p:txBody>
      </p:sp>
      <p:pic>
        <p:nvPicPr>
          <p:cNvPr id="4" name="Picture 3" descr="ashes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886539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5A626A"/>
                </a:solidFill>
                <a:latin typeface="Candara"/>
              </a:defRPr>
            </a:pPr>
            <a:r>
              <a:t>Ashesi University · ICS553 Machine Learning Essentials · Group 3 · Prosit 1 Advisory Brief</a:t>
            </a:r>
          </a:p>
          <a:p>
            <a:pPr algn="r">
              <a:defRPr sz="900">
                <a:solidFill>
                  <a:srgbClr val="5A626A"/>
                </a:solidFill>
                <a:latin typeface="Candara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8F9FA"/>
          </a:solidFill>
          <a:ln>
            <a:solidFill>
              <a:srgbClr val="E2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33939"/>
                </a:solidFill>
                <a:latin typeface="Garamond"/>
              </a:defRPr>
            </a:pPr>
            <a:r>
              <a:t>Why Wa (-1,516) &amp; Bolgatanga (-665) Lose Nets</a:t>
            </a:r>
          </a:p>
          <a:p>
            <a:pPr>
              <a:spcBef>
                <a:spcPts val="1200"/>
              </a:spcBef>
              <a:defRPr sz="1100">
                <a:solidFill>
                  <a:srgbClr val="1E2022"/>
                </a:solidFill>
                <a:latin typeface="Candara"/>
              </a:defRPr>
            </a:pPr>
            <a:r>
              <a:t>1. Hospital Catchment Distortion: Wa and Bolgatanga host the two regional referral hospitals. Cases are logged at the clinic address, not patient residence!</a:t>
            </a:r>
          </a:p>
          <a:p>
            <a:pPr>
              <a:spcBef>
                <a:spcPts val="1200"/>
              </a:spcBef>
              <a:defRPr sz="1100">
                <a:solidFill>
                  <a:srgbClr val="1E2022"/>
                </a:solidFill>
                <a:latin typeface="Candara"/>
              </a:defRPr>
            </a:pPr>
            <a:r>
              <a:t>2. Saturated Baseline Ownership: Upper East has 79.6% net coverage; Upper West has 69.8%. Bolga already has nets in almost every home.</a:t>
            </a:r>
          </a:p>
          <a:p>
            <a:pPr>
              <a:spcBef>
                <a:spcPts val="1200"/>
              </a:spcBef>
              <a:defRPr sz="1100">
                <a:solidFill>
                  <a:srgbClr val="1E2022"/>
                </a:solidFill>
                <a:latin typeface="Candara"/>
              </a:defRPr>
            </a:pPr>
            <a:r>
              <a:t>3. Eliminating Waste: Naive allocation gives Bolga 3,015 nets and Wa 2,610 nets. Our model scales them down to honest local community levels.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8F9FA"/>
          </a:solidFill>
          <a:ln>
            <a:solidFill>
              <a:srgbClr val="E2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B6CB0"/>
                </a:solidFill>
                <a:latin typeface="Garamond"/>
              </a:defRPr>
            </a:pPr>
            <a:r>
              <a:t>Why Tamale (+1,692) &amp; Sagnarigu (+1,012) Gain Nets</a:t>
            </a:r>
          </a:p>
          <a:p>
            <a:pPr>
              <a:spcBef>
                <a:spcPts val="1200"/>
              </a:spcBef>
              <a:defRPr sz="1100">
                <a:solidFill>
                  <a:srgbClr val="1E2022"/>
                </a:solidFill>
                <a:latin typeface="Candara"/>
              </a:defRPr>
            </a:pPr>
            <a:r>
              <a:t>1. Massive Population at Risk: Tamale has ~255,000 residents; Sagnarigu has ~168,000 residents (the largest urban agglomeration in the north).</a:t>
            </a:r>
          </a:p>
          <a:p>
            <a:pPr>
              <a:spcBef>
                <a:spcPts val="1200"/>
              </a:spcBef>
              <a:defRPr sz="1100">
                <a:solidFill>
                  <a:srgbClr val="1E2022"/>
                </a:solidFill>
                <a:latin typeface="Candara"/>
              </a:defRPr>
            </a:pPr>
            <a:r>
              <a:t>2. Critical Unmet Need Gap: Northern Region has only 67.7% baseline coverage. The absolute number of unprotected people is highest here.</a:t>
            </a:r>
          </a:p>
          <a:p>
            <a:pPr>
              <a:spcBef>
                <a:spcPts val="1200"/>
              </a:spcBef>
              <a:defRPr sz="1100">
                <a:solidFill>
                  <a:srgbClr val="1E2022"/>
                </a:solidFill>
                <a:latin typeface="Candara"/>
              </a:defRPr>
            </a:pPr>
            <a:r>
              <a:t>3. Correcting Naive Under-allocation: Naive policy awarded Tamale only 483 nets (0.97% of supply)! Equitable allocation restores 2,175 nets.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83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3F43"/>
                </a:solidFill>
                <a:latin typeface="Candara"/>
              </a:defRPr>
            </a:pPr>
            <a:r>
              <a:t>THEME D OPERATIONAL STRATEGY</a:t>
            </a:r>
          </a:p>
          <a:p>
            <a:pPr>
              <a:defRPr sz="2300" b="1">
                <a:solidFill>
                  <a:srgbClr val="5E1214"/>
                </a:solidFill>
                <a:latin typeface="Garamond"/>
              </a:defRPr>
            </a:pPr>
            <a:r>
              <a:t>Implementation Roadmap for NMEP Rollout</a:t>
            </a:r>
          </a:p>
        </p:txBody>
      </p:sp>
      <p:pic>
        <p:nvPicPr>
          <p:cNvPr id="4" name="Picture 3" descr="ashes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886539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5A626A"/>
                </a:solidFill>
                <a:latin typeface="Candara"/>
              </a:defRPr>
            </a:pPr>
            <a:r>
              <a:t>Ashesi University · ICS553 Machine Learning Essentials · Group 3 · Prosit 1 Advisory Brief</a:t>
            </a:r>
          </a:p>
          <a:p>
            <a:pPr algn="r">
              <a:defRPr sz="900">
                <a:solidFill>
                  <a:srgbClr val="5A626A"/>
                </a:solidFill>
                <a:latin typeface="Candara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E1214"/>
                </a:solidFill>
                <a:latin typeface="Garamond"/>
              </a:defRPr>
            </a:pPr>
            <a:r>
              <a:t>Four-Phase Rollout Schedule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A83F43"/>
                </a:solidFill>
                <a:latin typeface="Candara"/>
              </a:rPr>
              <a:t>Phase 1: Regional Warehousing &amp; Staging (Weeks 1-2)
</a:t>
            </a:r>
            <a:r>
              <a:rPr sz="1100">
                <a:solidFill>
                  <a:srgbClr val="1E2022"/>
                </a:solidFill>
                <a:latin typeface="Candara"/>
              </a:rPr>
              <a:t>Consignments dispatched to Tamale (24,980), Bolgatanga (17,547), and Wa (7,473) central medical stores.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A83F43"/>
                </a:solidFill>
                <a:latin typeface="Candara"/>
              </a:rPr>
              <a:t>Phase 2: Last-Mile Delivery via CHPS Compounds (Weeks 3-4)
</a:t>
            </a:r>
            <a:r>
              <a:rPr sz="1100">
                <a:solidFill>
                  <a:srgbClr val="1E2022"/>
                </a:solidFill>
                <a:latin typeface="Candara"/>
              </a:rPr>
              <a:t>Bypassing regional hospital gates to distribute directly through Community-Based Health Planning and Services (CHPS), prioritizing pregnant women and children under 5.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A83F43"/>
                </a:solidFill>
                <a:latin typeface="Candara"/>
              </a:rPr>
              <a:t>Phase 3: Digital Tracking &amp; Traceability (Weeks 4-6)
</a:t>
            </a:r>
            <a:r>
              <a:rPr sz="1100">
                <a:solidFill>
                  <a:srgbClr val="1E2022"/>
                </a:solidFill>
                <a:latin typeface="Candara"/>
              </a:rPr>
              <a:t>Barcode scanning of bale deliveries at district health directorates to eliminate supply leakage and diversion.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A83F43"/>
                </a:solidFill>
                <a:latin typeface="Candara"/>
              </a:rPr>
              <a:t>Phase 4: 6-Month Post-Distribution Audit (Month 6)
</a:t>
            </a:r>
            <a:r>
              <a:rPr sz="1100">
                <a:solidFill>
                  <a:srgbClr val="1E2022"/>
                </a:solidFill>
                <a:latin typeface="Candara"/>
              </a:rPr>
              <a:t>Conduct rapid two-stage cluster surveys in recipient communities to evaluate net hanging rates, physical integrity, and local parasitaemia decline.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83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3F43"/>
                </a:solidFill>
                <a:latin typeface="Candara"/>
              </a:defRPr>
            </a:pPr>
            <a:r>
              <a:t>ACADEMIC DEFENSE BANK</a:t>
            </a:r>
          </a:p>
          <a:p>
            <a:pPr>
              <a:defRPr sz="2300" b="1">
                <a:solidFill>
                  <a:srgbClr val="5E1214"/>
                </a:solidFill>
                <a:latin typeface="Garamond"/>
              </a:defRPr>
            </a:pPr>
            <a:r>
              <a:t>Viva Oral Defense: Examiner Grill-Me Cheat Sheet</a:t>
            </a:r>
          </a:p>
        </p:txBody>
      </p:sp>
      <p:pic>
        <p:nvPicPr>
          <p:cNvPr id="4" name="Picture 3" descr="ashes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886539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5A626A"/>
                </a:solidFill>
                <a:latin typeface="Candara"/>
              </a:defRPr>
            </a:pPr>
            <a:r>
              <a:t>Ashesi University · ICS553 Machine Learning Essentials · Group 3 · Prosit 1 Advisory Brief</a:t>
            </a:r>
          </a:p>
          <a:p>
            <a:pPr algn="r">
              <a:defRPr sz="900">
                <a:solidFill>
                  <a:srgbClr val="5A626A"/>
                </a:solidFill>
                <a:latin typeface="Candara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E1214"/>
                </a:solidFill>
                <a:latin typeface="Garamond"/>
              </a:defRPr>
            </a:pPr>
            <a:r>
              <a:t>High-Stakes Panel Q&amp;A Scripts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A83F43"/>
                </a:solidFill>
                <a:latin typeface="Candara"/>
              </a:rPr>
              <a:t>Examiner: 'Why not use Poisson regression?'  </a:t>
            </a:r>
            <a:r>
              <a:rPr sz="1000">
                <a:solidFill>
                  <a:srgbClr val="1E2022"/>
                </a:solidFill>
                <a:latin typeface="Candara"/>
              </a:rPr>
              <a:t>Answer: In northern Ghana, Variance/Mean is 77,183. Poisson assumes 1.0, underestimating outbreak spread by 278x. Negative Binomial (alpha = 0.2677) accommodates this heavy tail and beats Poisson by 2.39M AIC.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A83F43"/>
                </a:solidFill>
                <a:latin typeface="Candara"/>
              </a:rPr>
              <a:t>Examiner: 'Why did naive bootstrap fail?'  </a:t>
            </a:r>
            <a:r>
              <a:rPr sz="1000">
                <a:solidFill>
                  <a:srgbClr val="1E2022"/>
                </a:solidFill>
                <a:latin typeface="Candara"/>
              </a:rPr>
              <a:t>Answer: DHS data is clustered by village. Naive bootstrap pretends households are independent, shrinking the CI to 7.17 pp. Two-stage cluster bootstrap gives an honest 15.20 pp interval (DEFF = 4.50).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A83F43"/>
                </a:solidFill>
                <a:latin typeface="Candara"/>
              </a:rPr>
              <a:t>Examiner: 'Why cut nets from Bolgatanga when it has the highest case count?'  </a:t>
            </a:r>
            <a:r>
              <a:rPr sz="1000">
                <a:solidFill>
                  <a:srgbClr val="1E2022"/>
                </a:solidFill>
                <a:latin typeface="Candara"/>
              </a:rPr>
              <a:t>Answer: Bolgatanga Regional Hospital logs cases from surrounding rural districts. Furthermore, Upper East already has 79.6% net coverage. Handing thousands more nets to Bolga causes waste; our model targets true community unmet need.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A83F43"/>
                </a:solidFill>
                <a:latin typeface="Candara"/>
              </a:rPr>
              <a:t>Examiner: 'What if your budget is cut by 50% to 25,000 nets?'  </a:t>
            </a:r>
            <a:r>
              <a:rPr sz="1000">
                <a:solidFill>
                  <a:srgbClr val="1E2022"/>
                </a:solidFill>
                <a:latin typeface="Candara"/>
              </a:rPr>
              <a:t>Answer: The priority ranking is invariant. Because Hamilton apportionment scales linearly with relative need weights, the district priority hierarchy remains identical.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