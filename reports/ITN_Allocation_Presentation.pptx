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DATA-DRIVEN RESOURCE ALLOCATION OF ITNs IN GHANA</a:t>
            </a:r>
          </a:p>
          <a:p>
            <a:pPr>
              <a:spcBef>
                <a:spcPts val="1500"/>
              </a:spcBef>
              <a:defRPr sz="1800">
                <a:solidFill>
                  <a:srgbClr val="B2DFDB"/>
                </a:solidFill>
              </a:defRPr>
            </a:pPr>
            <a:r>
              <a:t>An Uncertainty-Aware Decision Framework for Allocating 50,000 Nets Across 50 Northern Districts</a:t>
            </a:r>
          </a:p>
          <a:p>
            <a:pPr>
              <a:spcBef>
                <a:spcPts val="4000"/>
              </a:spcBef>
              <a:defRPr sz="1400">
                <a:solidFill>
                  <a:srgbClr val="C8D7E6"/>
                </a:solidFill>
              </a:defRPr>
            </a:pPr>
            <a:r>
              <a:t>Advisory Presentation to the National Malaria Elimination Programme (NMEP), Ghana Health Service</a:t>
            </a:r>
            <a:br/>
            <a:r>
              <a:t>ICS553 Machine Learning Essentials · Group 3 · Ashesi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EXECUTIVE SUMMARY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The Decision Context: Allocating 50,000 Indivisible Nets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43"/>
                </a:solidFill>
              </a:defRPr>
            </a:pPr>
            <a:r>
              <a:t>Operational Parameters &amp; Constraints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0F2043"/>
                </a:solidFill>
              </a:rPr>
              <a:t>• Resource Ceiling:</a:t>
            </a:r>
            <a:r>
              <a:rPr sz="1200">
                <a:solidFill>
                  <a:srgbClr val="212121"/>
                </a:solidFill>
              </a:rPr>
              <a:t> Exactly 50,000 long-lasting ITNs available for northern Ghana.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0F2043"/>
                </a:solidFill>
              </a:rPr>
              <a:t>• Target Unit:</a:t>
            </a:r>
            <a:r>
              <a:rPr sz="1200">
                <a:solidFill>
                  <a:srgbClr val="212121"/>
                </a:solidFill>
              </a:rPr>
              <a:t> 50 administrative districts across Northern, Upper East, and Upper West regions.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0F2043"/>
                </a:solidFill>
              </a:rPr>
              <a:t>• Indivisibility:</a:t>
            </a:r>
            <a:r>
              <a:rPr sz="1200">
                <a:solidFill>
                  <a:srgbClr val="212121"/>
                </a:solidFill>
              </a:rPr>
              <a:t> Integer allocations required (no fractional nets; Hamilton apportionment).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0F2043"/>
                </a:solidFill>
              </a:rPr>
              <a:t>• Asymmetric Loss:</a:t>
            </a:r>
            <a:r>
              <a:rPr sz="1200">
                <a:solidFill>
                  <a:srgbClr val="212121"/>
                </a:solidFill>
              </a:rPr>
              <a:t> Under-allocating to an epidemic zone costs human lives; over-allocating only incurs marginal warehousing costs.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Why The Naive Heuristic Fails Catastrophically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C0392B"/>
                </a:solidFill>
              </a:rPr>
              <a:t>⚠ The Clinic Access Bias:</a:t>
            </a:r>
            <a:r>
              <a:rPr sz="1200">
                <a:solidFill>
                  <a:srgbClr val="212121"/>
                </a:solidFill>
              </a:rPr>
              <a:t> Raw cases measure clinic attendance, not infection. Rural areas with no clinics report 0 cases!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C0392B"/>
                </a:solidFill>
              </a:rPr>
              <a:t>⚠ The Referral Hospital Trap:</a:t>
            </a:r>
            <a:r>
              <a:rPr sz="1200">
                <a:solidFill>
                  <a:srgbClr val="212121"/>
                </a:solidFill>
              </a:rPr>
              <a:t> Regional hospitals (Bolgatanga, Wa) log thousands of cases from patients travelling from outside districts.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C0392B"/>
                </a:solidFill>
              </a:rPr>
              <a:t>⚠ Satiation &amp; Existing Coverage:</a:t>
            </a:r>
            <a:r>
              <a:rPr sz="1200">
                <a:solidFill>
                  <a:srgbClr val="212121"/>
                </a:solidFill>
              </a:rPr>
              <a:t> Upper East already has 79.6% net coverage. Dumping nets there gives zero marginal benefit.</a:t>
            </a:r>
          </a:p>
          <a:p>
            <a:pPr>
              <a:spcBef>
                <a:spcPts val="1200"/>
              </a:spcBef>
            </a:pPr>
            <a:r>
              <a:rPr b="1" sz="1200">
                <a:solidFill>
                  <a:srgbClr val="C0392B"/>
                </a:solidFill>
              </a:rPr>
              <a:t>⚠ Ignoring Over-dispersion:</a:t>
            </a:r>
            <a:r>
              <a:rPr sz="1200">
                <a:solidFill>
                  <a:srgbClr val="212121"/>
                </a:solidFill>
              </a:rPr>
              <a:t> High localized spikes are treated as ordinary noise, leaving high-risk zones under-protected.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B1 GEOSPATIAL EDA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Geospatial Surveillance &amp; Survey Data Divide</a:t>
            </a:r>
          </a:p>
        </p:txBody>
      </p:sp>
      <p:pic>
        <p:nvPicPr>
          <p:cNvPr id="3" name="Picture 2" descr="b1_data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023360" cy="5470149"/>
          </a:xfrm>
          <a:prstGeom prst="rect">
            <a:avLst/>
          </a:prstGeom>
        </p:spPr>
      </p:pic>
      <p:pic>
        <p:nvPicPr>
          <p:cNvPr id="4" name="Picture 3" descr="b1_district_cas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023360" cy="60101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235440" y="1371600"/>
            <a:ext cx="2286000" cy="493776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043"/>
                </a:solidFill>
              </a:defRPr>
            </a:pPr>
            <a:r>
              <a:t>Key Cartographic Findings</a:t>
            </a:r>
          </a:p>
          <a:p>
            <a:pPr>
              <a:spcBef>
                <a:spcPts val="1000"/>
              </a:spcBef>
              <a:defRPr sz="1000">
                <a:solidFill>
                  <a:srgbClr val="212121"/>
                </a:solidFill>
              </a:defRPr>
            </a:pPr>
            <a:r>
              <a:t>1. Severe Surveillance Divide: 50 northern districts have DHIMS-2 records; 210 southern districts have zero routine data.</a:t>
            </a:r>
          </a:p>
          <a:p>
            <a:pPr>
              <a:spcBef>
                <a:spcPts val="1000"/>
              </a:spcBef>
              <a:defRPr sz="1000">
                <a:solidFill>
                  <a:srgbClr val="212121"/>
                </a:solidFill>
              </a:defRPr>
            </a:pPr>
            <a:r>
              <a:t>2. Survey Density: DHS 2022 sampled 618 clusters nationwide, but Northern Region rural clusters carry wide sampling errors.</a:t>
            </a:r>
          </a:p>
          <a:p>
            <a:pPr>
              <a:spcBef>
                <a:spcPts val="1000"/>
              </a:spcBef>
              <a:defRPr sz="1000">
                <a:solidFill>
                  <a:srgbClr val="212121"/>
                </a:solidFill>
              </a:defRPr>
            </a:pPr>
            <a:r>
              <a:t>3. Survey Weighting Effect: Unweighted net ownership (70.96%) overstates true weighted ownership (66.77%) by 4.19 percentage points.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A STATISTICAL MODELING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Over-Dispersion: Why Poisson Regression Crashed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84632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43"/>
                </a:solidFill>
              </a:defRPr>
            </a:pPr>
            <a:r>
              <a:t>The Mathematical Breakdown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2043"/>
                </a:solidFill>
              </a:rPr>
              <a:t>The Poisson Assumption:</a:t>
            </a:r>
            <a:r>
              <a:rPr sz="1100">
                <a:solidFill>
                  <a:srgbClr val="212121"/>
                </a:solidFill>
              </a:rPr>
              <a:t> Assumes Variance = Mean. Expected variance/mean ratio is strictly 1.0.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2043"/>
                </a:solidFill>
              </a:rPr>
              <a:t>Observed Reality:</a:t>
            </a:r>
            <a:r>
              <a:rPr sz="1100">
                <a:solidFill>
                  <a:srgbClr val="212121"/>
                </a:solidFill>
              </a:rPr>
              <a:t> In northern Ghana, Variance / Mean = 77,183! Observed SD is 122,882 vs Poisson SD of 442 (278x narrower).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2043"/>
                </a:solidFill>
              </a:rPr>
              <a:t>Survives Population Offset:</a:t>
            </a:r>
            <a:r>
              <a:rPr sz="1100">
                <a:solidFill>
                  <a:srgbClr val="212121"/>
                </a:solidFill>
              </a:rPr>
              <a:t> Pearson chi2/df = 54,147. Poisson fails catastrophically even after adjusting for district population.</a:t>
            </a:r>
          </a:p>
          <a:p>
            <a:pPr>
              <a:spcBef>
                <a:spcPts val="1000"/>
              </a:spcBef>
            </a:pPr>
            <a:r>
              <a:rPr b="1" sz="1200">
                <a:solidFill>
                  <a:srgbClr val="0F2043"/>
                </a:solidFill>
              </a:rPr>
              <a:t>Negative Binomial (NB2):</a:t>
            </a:r>
            <a:r>
              <a:rPr sz="1100">
                <a:solidFill>
                  <a:srgbClr val="212121"/>
                </a:solidFill>
              </a:rPr>
              <a:t> Adds dispersion knob (alpha = 0.2677), allowing Var = mu + alpha*mu^2. Outperforms Poisson by 2,393,669 AIC points!</a:t>
            </a:r>
          </a:p>
        </p:txBody>
      </p:sp>
      <p:pic>
        <p:nvPicPr>
          <p:cNvPr id="5" name="Picture 4" descr="a3_poisson_vs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394960" cy="34084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A SAMPLING THEORY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Honest Uncertainty: The Two-Stage Cluster Bootstrap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84632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43"/>
                </a:solidFill>
              </a:defRPr>
            </a:pPr>
            <a:r>
              <a:t>Cluster Autocorrelation vs. Naive Sampling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The DHS Sampling Design:</a:t>
            </a:r>
            <a:r>
              <a:rPr sz="1100">
                <a:solidFill>
                  <a:srgbClr val="212121"/>
                </a:solidFill>
              </a:rPr>
              <a:t> 2-stage cluster sampling: clusters (villages) chosen first, then 25-30 households per cluster.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Intra-Cluster Correlation:</a:t>
            </a:r>
            <a:r>
              <a:rPr sz="1100">
                <a:solidFill>
                  <a:srgbClr val="212121"/>
                </a:solidFill>
              </a:rPr>
              <a:t> Families in the same village share the same swamp and risk. They are NOT independent.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The Naive Bootstrap Danger:</a:t>
            </a:r>
            <a:r>
              <a:rPr sz="1100">
                <a:solidFill>
                  <a:srgbClr val="212121"/>
                </a:solidFill>
              </a:rPr>
              <a:t> Resampling households ignores village clustering, giving a confidence interval of 7.17 pp (false precision!).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The Honest Cluster Bootstrap:</a:t>
            </a:r>
            <a:r>
              <a:rPr sz="1100">
                <a:solidFill>
                  <a:srgbClr val="212121"/>
                </a:solidFill>
              </a:rPr>
              <a:t> Resampling clusters first yields a 15.20 pp interval — 2.12x wider (DEFF = 4.50)!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0F2043"/>
                </a:solidFill>
              </a:rPr>
              <a:t>Validation Benchmark:</a:t>
            </a:r>
            <a:r>
              <a:rPr sz="1100">
                <a:solidFill>
                  <a:srgbClr val="212121"/>
                </a:solidFill>
              </a:rPr>
              <a:t> Survey-weighted net ownership reproduces published 2022 DHS report to 0.09 pp (67.69% vs 67.60%).</a:t>
            </a:r>
          </a:p>
        </p:txBody>
      </p:sp>
      <p:pic>
        <p:nvPicPr>
          <p:cNvPr id="5" name="Picture 4" descr="a4_bootstrap_c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828800"/>
            <a:ext cx="5394960" cy="25351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B PIPELINE ENGINEERING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Pipeline Discipline &amp; Leakage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1. Preprocessing Leak</a:t>
            </a:r>
          </a:p>
          <a:p>
            <a:pPr>
              <a:spcBef>
                <a:spcPts val="1000"/>
              </a:spcBef>
              <a:defRPr sz="1100"/>
            </a:pPr>
            <a:r>
              <a:t>• Scaling/imputing before split leaks test distribution into training.</a:t>
            </a:r>
            <a:br/>
            <a:r>
              <a:t>• Deflates test RMSE by 212 cases (87,144 vs honest 87,356).</a:t>
            </a:r>
            <a:br/>
            <a:r>
              <a:t>• Prevention: Strict Pipeline and ColumnTransformer encapsulation.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64592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2. Target Encoding Catastrophe</a:t>
            </a:r>
          </a:p>
          <a:p>
            <a:pPr>
              <a:spcBef>
                <a:spcPts val="1000"/>
              </a:spcBef>
              <a:defRPr sz="1100"/>
            </a:pPr>
            <a:r>
              <a:t>• Encoding district by target mean without out-of-fold regularization.</a:t>
            </a:r>
            <a:br/>
            <a:r>
              <a:t>• Model memorizes training targets, faking R² = 1.0000 (honest 0.4905).</a:t>
            </a:r>
            <a:br/>
            <a:r>
              <a:t>• Prevention: Target encoding rejected entirely.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43"/>
                </a:solidFill>
              </a:defRPr>
            </a:pPr>
            <a:r>
              <a:t>3. Spatial Autocorrelation</a:t>
            </a:r>
          </a:p>
          <a:p>
            <a:pPr>
              <a:spcBef>
                <a:spcPts val="1000"/>
              </a:spcBef>
              <a:defRPr sz="1100"/>
            </a:pPr>
            <a:r>
              <a:t>• Random 80/20 train/test splits place neighboring districts on both sides.</a:t>
            </a:r>
            <a:br/>
            <a:r>
              <a:t>• Model 'peeks' at geographic twin; test error drops by 45.5% (47,646 vs 87,356).</a:t>
            </a:r>
            <a:br/>
            <a:r>
              <a:t>• Prevention: Region-stratified holdout split.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C RESOURCE OPTIMIZATION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The Equitable Need-Weighted Allocation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2043"/>
                </a:solidFill>
              </a:defRPr>
            </a:pPr>
            <a:r>
              <a:t>Three Pillars of the Proposed Allocation Model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009688"/>
                </a:solidFill>
              </a:rPr>
              <a:t>1. Upper-Bound Epidemic Risk (mu_upper):
</a:t>
            </a:r>
            <a:r>
              <a:rPr sz="1200">
                <a:solidFill>
                  <a:srgbClr val="212121"/>
                </a:solidFill>
              </a:rPr>
              <a:t> We extract the upper bound of the 95% prediction interval from the Negative Binomial model. This implements an asymmetric minimax hedge, ensuring districts are protected against worst-case epidemic spikes.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009688"/>
                </a:solidFill>
              </a:rPr>
              <a:t>2. The Unmet Coverage Gap (1 - Coverage):
</a:t>
            </a:r>
            <a:r>
              <a:rPr sz="1200">
                <a:solidFill>
                  <a:srgbClr val="212121"/>
                </a:solidFill>
              </a:rPr>
              <a:t> Bed nets produce herd immunity. Districts with ~80% coverage experience diminishing marginal returns. Weighting by (1 - coverage/100) directs nets where baseline household ownership is lowest.</a:t>
            </a:r>
          </a:p>
          <a:p>
            <a:pPr>
              <a:spcBef>
                <a:spcPts val="1400"/>
              </a:spcBef>
            </a:pPr>
            <a:r>
              <a:rPr b="1" sz="1400">
                <a:solidFill>
                  <a:srgbClr val="009688"/>
                </a:solidFill>
              </a:rPr>
              <a:t>3. Hamilton Integer Apportionment:
</a:t>
            </a:r>
            <a:r>
              <a:rPr sz="1200">
                <a:solidFill>
                  <a:srgbClr val="212121"/>
                </a:solidFill>
              </a:rPr>
              <a:t> Guarantees that exactly 50,000 integer nets are allocated (no fractional nets, no budget drops) by awarding floor quotas and distributing remainders to largest fractional deficits.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5120640"/>
            <a:ext cx="10728655" cy="1005840"/>
          </a:xfrm>
          <a:prstGeom prst="rect">
            <a:avLst/>
          </a:prstGeom>
          <a:solidFill>
            <a:srgbClr val="0F204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Weight_i = mu_upper_i  x  (1 - net_coverage_pct_i / 100)        =&gt;        Allocation_i = Hamilton(Weight_i, Total = 50,000)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C GEOSPATIAL ALLOCATION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Map Highlight: 50,000 Net Distribution Across Northern Ghana</a:t>
            </a:r>
          </a:p>
        </p:txBody>
      </p:sp>
      <p:pic>
        <p:nvPicPr>
          <p:cNvPr id="3" name="Picture 2" descr="c2_alloc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572000" cy="7289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0" y="1371600"/>
            <a:ext cx="5760720" cy="484632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0" y="155448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43"/>
                </a:solidFill>
              </a:defRPr>
            </a:pPr>
            <a:r>
              <a:t>Regional Consignment Shares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F2043"/>
                </a:solidFill>
              </a:rPr>
              <a:t>Northern Region Depot (Tamale):
</a:t>
            </a:r>
            <a:r>
              <a:rPr sz="1100">
                <a:solidFill>
                  <a:srgbClr val="212121"/>
                </a:solidFill>
              </a:rPr>
              <a:t> 24,980 nets (49.96%) across 26 districts.
Reflects lower baseline net coverage (67.7%) and largest population at risk.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F2043"/>
                </a:solidFill>
              </a:rPr>
              <a:t>Upper East Depot (Bolgatanga):
</a:t>
            </a:r>
            <a:r>
              <a:rPr sz="1100">
                <a:solidFill>
                  <a:srgbClr val="212121"/>
                </a:solidFill>
              </a:rPr>
              <a:t> 17,547 nets (35.09%) across 13 districts.
High historical caseload, but high baseline coverage (79.6%) dampens allocation.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F2043"/>
                </a:solidFill>
              </a:rPr>
              <a:t>Upper West Depot (Wa):
</a:t>
            </a:r>
            <a:r>
              <a:rPr sz="1100">
                <a:solidFill>
                  <a:srgbClr val="212121"/>
                </a:solidFill>
              </a:rPr>
              <a:t> 7,473 nets (14.95%) across 11 districts.
Corrected for hospital referral inflation; nets distributed to rural catchments.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C POLICY IMPACT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Map Highlight: Net Shifts (Equitable vs. Naive)</a:t>
            </a:r>
          </a:p>
        </p:txBody>
      </p:sp>
      <p:pic>
        <p:nvPicPr>
          <p:cNvPr id="3" name="Picture 2" descr="c3_policy_shif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6288006"/>
          </a:xfrm>
          <a:prstGeom prst="rect">
            <a:avLst/>
          </a:prstGeom>
        </p:spPr>
      </p:pic>
      <p:pic>
        <p:nvPicPr>
          <p:cNvPr id="4" name="Picture 3" descr="c1_alloca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371600"/>
            <a:ext cx="4937760" cy="3607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C POLICY DEFENSE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Deep Dive: The Referral Hospital Trap Explained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</a:defRPr>
            </a:pPr>
            <a:r>
              <a:t>Why Wa (-1,516) &amp; Bolgatanga (-665) Lose Nets</a:t>
            </a:r>
          </a:p>
          <a:p>
            <a:pPr>
              <a:spcBef>
                <a:spcPts val="1200"/>
              </a:spcBef>
              <a:defRPr sz="1100">
                <a:solidFill>
                  <a:srgbClr val="212121"/>
                </a:solidFill>
              </a:defRPr>
            </a:pPr>
            <a:r>
              <a:t>1. Hospital Catchment Distortion: Wa and Bolgatanga host the two regional referral hospitals. Cases are logged at the clinic address, not patient residence!</a:t>
            </a:r>
          </a:p>
          <a:p>
            <a:pPr>
              <a:spcBef>
                <a:spcPts val="1200"/>
              </a:spcBef>
              <a:defRPr sz="1100">
                <a:solidFill>
                  <a:srgbClr val="212121"/>
                </a:solidFill>
              </a:defRPr>
            </a:pPr>
            <a:r>
              <a:t>2. Saturated Baseline Ownership: Upper East has 79.6% net coverage; Upper West has 69.8%. Bolga already has nets in almost every home.</a:t>
            </a:r>
          </a:p>
          <a:p>
            <a:pPr>
              <a:spcBef>
                <a:spcPts val="1200"/>
              </a:spcBef>
              <a:defRPr sz="1100">
                <a:solidFill>
                  <a:srgbClr val="212121"/>
                </a:solidFill>
              </a:defRPr>
            </a:pPr>
            <a:r>
              <a:t>3. Eliminating Waste: Naive allocation gives Bolga 3,015 nets and Wa 2,610 nets. Our model scales them down to honest local community levels.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5F7FA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9688"/>
                </a:solidFill>
              </a:defRPr>
            </a:pPr>
            <a:r>
              <a:t>Why Tamale (+1,692) &amp; Sagnarigu (+1,012) Gain Nets</a:t>
            </a:r>
          </a:p>
          <a:p>
            <a:pPr>
              <a:spcBef>
                <a:spcPts val="1200"/>
              </a:spcBef>
              <a:defRPr sz="1100">
                <a:solidFill>
                  <a:srgbClr val="212121"/>
                </a:solidFill>
              </a:defRPr>
            </a:pPr>
            <a:r>
              <a:t>1. Massive Population at Risk: Tamale has ~255,000 residents; Sagnarigu has ~168,000 residents (the largest urban agglomeration in the north).</a:t>
            </a:r>
          </a:p>
          <a:p>
            <a:pPr>
              <a:spcBef>
                <a:spcPts val="1200"/>
              </a:spcBef>
              <a:defRPr sz="1100">
                <a:solidFill>
                  <a:srgbClr val="212121"/>
                </a:solidFill>
              </a:defRPr>
            </a:pPr>
            <a:r>
              <a:t>2. Critical Unmet Need Gap: Northern Region has only 67.7% baseline coverage. The absolute number of unprotected people is highest here.</a:t>
            </a:r>
          </a:p>
          <a:p>
            <a:pPr>
              <a:spcBef>
                <a:spcPts val="1200"/>
              </a:spcBef>
              <a:defRPr sz="1100">
                <a:solidFill>
                  <a:srgbClr val="212121"/>
                </a:solidFill>
              </a:defRPr>
            </a:pPr>
            <a:r>
              <a:t>3. Correcting Naive Under-allocation: Naive policy awarded Tamale only 483 nets (0.97% of supply)! Equitable allocation restores 2,175 nets.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THEME D OPERATIONAL STRATEGY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Implementation Roadmap for NMEP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2043"/>
                </a:solidFill>
              </a:defRPr>
            </a:pPr>
            <a:r>
              <a:t>Four-Phase Rollout Schedule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09688"/>
                </a:solidFill>
              </a:rPr>
              <a:t>Phase 1: Regional Warehousing &amp; Staging (Weeks 1-2)
</a:t>
            </a:r>
            <a:r>
              <a:rPr sz="1100">
                <a:solidFill>
                  <a:srgbClr val="212121"/>
                </a:solidFill>
              </a:rPr>
              <a:t>Consignments dispatched to Tamale (24,980), Bolgatanga (17,547), and Wa (7,473) central medical stores.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09688"/>
                </a:solidFill>
              </a:rPr>
              <a:t>Phase 2: Last-Mile Delivery via CHPS Compounds (Weeks 3-4)
</a:t>
            </a:r>
            <a:r>
              <a:rPr sz="1100">
                <a:solidFill>
                  <a:srgbClr val="212121"/>
                </a:solidFill>
              </a:rPr>
              <a:t>Bypassing regional hospital gates to distribute directly through Community-Based Health Planning and Services (CHPS), prioritizing pregnant women and children under 5.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09688"/>
                </a:solidFill>
              </a:rPr>
              <a:t>Phase 3: Digital Tracking &amp; Traceability (Weeks 4-6)
</a:t>
            </a:r>
            <a:r>
              <a:rPr sz="1100">
                <a:solidFill>
                  <a:srgbClr val="212121"/>
                </a:solidFill>
              </a:rPr>
              <a:t>Barcode scanning of bale deliveries at district health directorates to eliminate supply leakage and diversion.</a:t>
            </a:r>
          </a:p>
          <a:p>
            <a:pPr>
              <a:spcBef>
                <a:spcPts val="1200"/>
              </a:spcBef>
            </a:pPr>
            <a:r>
              <a:rPr b="1" sz="1300">
                <a:solidFill>
                  <a:srgbClr val="009688"/>
                </a:solidFill>
              </a:rPr>
              <a:t>Phase 4: 6-Month Post-Distribution Audit (Month 6)
</a:t>
            </a:r>
            <a:r>
              <a:rPr sz="1100">
                <a:solidFill>
                  <a:srgbClr val="212121"/>
                </a:solidFill>
              </a:rPr>
              <a:t>Conduct rapid two-stage cluster surveys in recipient communities to evaluate net hanging rates, physical integrity, and local parasitaemia decline.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9688"/>
                </a:solidFill>
              </a:defRPr>
            </a:pPr>
            <a:r>
              <a:t>ACADEMIC DEFENSE BANK</a:t>
            </a:r>
          </a:p>
          <a:p>
            <a:pPr>
              <a:defRPr sz="2200" b="1">
                <a:solidFill>
                  <a:srgbClr val="0F2043"/>
                </a:solidFill>
              </a:defRPr>
            </a:pPr>
            <a:r>
              <a:t>Viva Oral Defense: Examiner Grill-Me Cheat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43"/>
                </a:solidFill>
              </a:defRPr>
            </a:pPr>
            <a:r>
              <a:t>High-Stakes Panel Q&amp;A Scripts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Examiner: 'Why not use Poisson regression?'  </a:t>
            </a:r>
            <a:r>
              <a:rPr sz="1000">
                <a:solidFill>
                  <a:srgbClr val="212121"/>
                </a:solidFill>
              </a:rPr>
              <a:t>Answer: In northern Ghana, Variance/Mean is 77,183. Poisson assumes 1.0, underestimating outbreak spread by 278x. Negative Binomial (alpha = 0.2677) accommodates this heavy tail and beats Poisson by 2.39M AIC.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Examiner: 'Why did naive bootstrap fail?'  </a:t>
            </a:r>
            <a:r>
              <a:rPr sz="1000">
                <a:solidFill>
                  <a:srgbClr val="212121"/>
                </a:solidFill>
              </a:rPr>
              <a:t>Answer: DHS data is clustered by village. Naive bootstrap pretends households are independent, shrinking the CI to 7.17 pp. Two-stage cluster bootstrap gives an honest 15.20 pp interval (DEFF = 4.50).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Examiner: 'Why cut nets from Bolgatanga when it has the highest case count?'  </a:t>
            </a:r>
            <a:r>
              <a:rPr sz="1000">
                <a:solidFill>
                  <a:srgbClr val="212121"/>
                </a:solidFill>
              </a:rPr>
              <a:t>Answer: Bolgatanga Regional Hospital logs cases from surrounding rural districts. Furthermore, Upper East already has 79.6% net coverage. Handing thousands more nets to Bolga causes waste; our model targets true community unmet need.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0F2043"/>
                </a:solidFill>
              </a:rPr>
              <a:t>Examiner: 'What if your budget is cut by 50% to 25,000 nets?'  </a:t>
            </a:r>
            <a:r>
              <a:rPr sz="1000">
                <a:solidFill>
                  <a:srgbClr val="212121"/>
                </a:solidFill>
              </a:rPr>
              <a:t>Answer: The priority ranking is invariant. Because Hamilton apportionment scales linearly with relative need weights, the district priority hierarchy remains identical.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