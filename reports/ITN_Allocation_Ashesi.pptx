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sldIdLst>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B3D3F"/>
    <a:srgbClr val="FEBA5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0408"/>
    <p:restoredTop sz="94668"/>
  </p:normalViewPr>
  <p:slideViewPr>
    <p:cSldViewPr snapToGrid="0" showGuides="1">
      <p:cViewPr varScale="1">
        <p:scale>
          <a:sx n="122" d="100"/>
          <a:sy n="122" d="100"/>
        </p:scale>
        <p:origin x="976"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B3D3F"/>
              </a:solidFill>
            </c:spPr>
          </c:dPt>
          <c:cat>
            <c:strRef>
              <c:f>Sheet1!$A$2:$A$4</c:f>
              <c:strCache>
                <c:ptCount val="3"/>
                <c:pt idx="0">
                  <c:v>Random split</c:v>
                </c:pt>
                <c:pt idx="1">
                  <c:v>Stratified by region</c:v>
                </c:pt>
                <c:pt idx="2">
                  <c:v>Region held out</c:v>
                </c:pt>
              </c:strCache>
            </c:strRef>
          </c:cat>
          <c:val>
            <c:numRef>
              <c:f>Sheet1!$B$2:$B$4</c:f>
              <c:numCache>
                <c:formatCode>General</c:formatCode>
                <c:ptCount val="3"/>
                <c:pt idx="0">
                  <c:v>91413</c:v>
                </c:pt>
                <c:pt idx="1">
                  <c:v>90169</c:v>
                </c:pt>
                <c:pt idx="2">
                  <c:v>365128</c:v>
                </c:pt>
              </c:numCache>
            </c:numRef>
          </c:val>
        </c:ser>
        <c:dLbls>
          <c:numFmt formatCode="#,##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invertIfNegative val="0"/>
          <c:dPt>
            <c:idx val="0"/>
            <c:invertIfNegative val="0"/>
            <c:spPr>
              <a:solidFill>
                <a:srgbClr val="AB3D3F"/>
              </a:solidFill>
            </c:spPr>
          </c:dPt>
          <c:dPt>
            <c:idx val="1"/>
            <c:invertIfNegative val="0"/>
            <c:spPr>
              <a:solidFill>
                <a:srgbClr val="AB3D3F"/>
              </a:solidFill>
            </c:spPr>
          </c:dPt>
          <c:dPt>
            <c:idx val="2"/>
            <c:invertIfNegative val="0"/>
            <c:spPr>
              <a:solidFill>
                <a:srgbClr val="AB3D3F"/>
              </a:solidFill>
            </c:spPr>
          </c:dPt>
          <c:cat>
            <c:strRef>
              <c:f>Sheet1!$A$2:$A$4</c:f>
              <c:strCache>
                <c:ptCount val="3"/>
                <c:pt idx="0">
                  <c:v>Northern (67.7%)</c:v>
                </c:pt>
                <c:pt idx="1">
                  <c:v>Upper West (69.8%)</c:v>
                </c:pt>
                <c:pt idx="2">
                  <c:v>Upper East (79.6%)</c:v>
                </c:pt>
              </c:strCache>
            </c:strRef>
          </c:cat>
          <c:val>
            <c:numRef>
              <c:f>Sheet1!$B$2:$B$4</c:f>
              <c:numCache>
                <c:formatCode>General</c:formatCode>
                <c:ptCount val="3"/>
                <c:pt idx="0">
                  <c:v>8.51</c:v>
                </c:pt>
                <c:pt idx="1">
                  <c:v>9.17</c:v>
                </c:pt>
                <c:pt idx="2">
                  <c:v>16.02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D9D9D9"/>
              </a:solidFill>
            </a:ln>
          </c:spPr>
        </c:majorGridlines>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invertIfNegative val="0"/>
          <c:dPt>
            <c:idx val="0"/>
            <c:invertIfNegative val="0"/>
            <c:spPr>
              <a:solidFill>
                <a:srgbClr val="A6A6A6"/>
              </a:solidFill>
            </c:spPr>
          </c:dPt>
          <c:dPt>
            <c:idx val="1"/>
            <c:invertIfNegative val="0"/>
            <c:spPr>
              <a:solidFill>
                <a:srgbClr val="A6A6A6"/>
              </a:solidFill>
            </c:spPr>
          </c:dPt>
          <c:dPt>
            <c:idx val="2"/>
            <c:invertIfNegative val="0"/>
            <c:spPr>
              <a:solidFill>
                <a:srgbClr val="A6A6A6"/>
              </a:solidFill>
            </c:spPr>
          </c:dPt>
          <c:dPt>
            <c:idx val="3"/>
            <c:invertIfNegative val="0"/>
            <c:spPr>
              <a:solidFill>
                <a:srgbClr val="A6A6A6"/>
              </a:solidFill>
            </c:spPr>
          </c:dPt>
          <c:dPt>
            <c:idx val="4"/>
            <c:invertIfNegative val="0"/>
            <c:spPr>
              <a:solidFill>
                <a:srgbClr val="A6A6A6"/>
              </a:solidFill>
            </c:spPr>
          </c:dPt>
          <c:dPt>
            <c:idx val="5"/>
            <c:invertIfNegative val="0"/>
            <c:spPr>
              <a:solidFill>
                <a:srgbClr val="AB3D3F"/>
              </a:solidFill>
            </c:spPr>
          </c:dPt>
          <c:dPt>
            <c:idx val="6"/>
            <c:invertIfNegative val="0"/>
            <c:spPr>
              <a:solidFill>
                <a:srgbClr val="AB3D3F"/>
              </a:solidFill>
            </c:spPr>
          </c:dPt>
          <c:dPt>
            <c:idx val="7"/>
            <c:invertIfNegative val="0"/>
            <c:spPr>
              <a:solidFill>
                <a:srgbClr val="AB3D3F"/>
              </a:solidFill>
            </c:spPr>
          </c:dPt>
          <c:dPt>
            <c:idx val="8"/>
            <c:invertIfNegative val="0"/>
            <c:spPr>
              <a:solidFill>
                <a:srgbClr val="AB3D3F"/>
              </a:solidFill>
            </c:spPr>
          </c:dPt>
          <c:dPt>
            <c:idx val="9"/>
            <c:invertIfNegative val="0"/>
            <c:spPr>
              <a:solidFill>
                <a:srgbClr val="AB3D3F"/>
              </a:solidFill>
            </c:spPr>
          </c:dPt>
          <c:cat>
            <c:strRef>
              <c:f>Sheet1!$A$2:$A$11</c:f>
              <c:strCache>
                <c:ptCount val="10"/>
                <c:pt idx="0">
                  <c:v>Wa</c:v>
                </c:pt>
                <c:pt idx="1">
                  <c:v>Nabdam</c:v>
                </c:pt>
                <c:pt idx="2">
                  <c:v>Lambussie-Karni</c:v>
                </c:pt>
                <c:pt idx="3">
                  <c:v>Bolgatanga</c:v>
                </c:pt>
                <c:pt idx="4">
                  <c:v>Sissala East</c:v>
                </c:pt>
                <c:pt idx="5">
                  <c:v>Gushiegu</c:v>
                </c:pt>
                <c:pt idx="6">
                  <c:v>West Mamprusi</c:v>
                </c:pt>
                <c:pt idx="7">
                  <c:v>East Gonja</c:v>
                </c:pt>
                <c:pt idx="8">
                  <c:v>Sagnarigu</c:v>
                </c:pt>
                <c:pt idx="9">
                  <c:v>Tamale</c:v>
                </c:pt>
              </c:strCache>
            </c:strRef>
          </c:cat>
          <c:val>
            <c:numRef>
              <c:f>Sheet1!$B$2:$B$11</c:f>
              <c:numCache>
                <c:formatCode>General</c:formatCode>
                <c:ptCount val="10"/>
                <c:pt idx="0">
                  <c:v>-1516</c:v>
                </c:pt>
                <c:pt idx="1">
                  <c:v>-761</c:v>
                </c:pt>
                <c:pt idx="2">
                  <c:v>-707</c:v>
                </c:pt>
                <c:pt idx="3">
                  <c:v>-665</c:v>
                </c:pt>
                <c:pt idx="4">
                  <c:v>-634</c:v>
                </c:pt>
                <c:pt idx="5">
                  <c:v>690</c:v>
                </c:pt>
                <c:pt idx="6">
                  <c:v>791</c:v>
                </c:pt>
                <c:pt idx="7">
                  <c:v>878</c:v>
                </c:pt>
                <c:pt idx="8">
                  <c:v>1012</c:v>
                </c:pt>
                <c:pt idx="9">
                  <c:v>1692</c:v>
                </c:pt>
              </c:numCache>
            </c:numRef>
          </c:val>
        </c:ser>
        <c:dLbls>
          <c:numFmt formatCode="+#,##0;-#,##0" sourceLinked="0"/>
          <c:txPr>
            <a:bodyPr/>
            <a:lstStyle/>
            <a:p>
              <a:pPr>
                <a:defRPr sz="13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none"/>
        <c:minorTickMark val="none"/>
        <c:tickLblPos val="low"/>
        <c:spPr>
          <a:ln>
            <a:solidFill>
              <a:srgbClr val="A6A6A6"/>
            </a:solidFill>
          </a:ln>
        </c:spPr>
        <c:txPr>
          <a:bodyPr/>
          <a:lstStyle/>
          <a:p>
            <a:pPr>
              <a:defRPr sz="1200"/>
            </a:pPr>
          </a:p>
        </c:txPr>
        <c:crossAx val="-2113994440"/>
        <c:crosses val="autoZero"/>
        <c:auto val="1"/>
        <c:lblAlgn val="ctr"/>
        <c:lblOffset val="100"/>
        <c:noMultiLvlLbl val="0"/>
      </c:catAx>
      <c:valAx>
        <c:axId val="-2113994440"/>
        <c:scaling/>
        <c:delete/>
        <c:axPos val="b"/>
        <c:numFmt formatCode="+#,##0;-#,##0" sourceLinked="0"/>
        <c:majorTickMark val="none"/>
        <c:minorTickMark val="none"/>
        <c:tickLblPos val="nextTo"/>
        <c:spPr>
          <a:ln>
            <a:noFill/>
          </a:ln>
        </c:spPr>
        <c:txPr>
          <a:bodyPr/>
          <a:lstStyle/>
          <a:p>
            <a:pPr>
              <a:defRPr sz="1100">
                <a:solidFill>
                  <a:srgbClr val="595959"/>
                </a:solidFill>
              </a:defRPr>
            </a:pPr>
          </a:p>
        </c:txPr>
        <c:crossAx val="-2068027336"/>
        <c:crosses val="autoZero"/>
      </c:valAx>
    </c:plotArea>
    <c:dispBlanksAs val="gap"/>
  </c:chart>
  <c:txPr>
    <a:bodyPr/>
    <a:lstStyle/>
    <a:p>
      <a:pPr>
        <a:defRPr sz="1200">
          <a:solidFill>
            <a:srgbClr val="262626"/>
          </a:solidFill>
          <a:latin typeface="Candar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DBAACF-1FE1-3041-8D48-9BE4F9D3A142}" type="datetimeFigureOut">
              <a:rPr lang="en-US" smtClean="0"/>
              <a:t>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E4E99A-28DC-854C-A27F-48DAC5546BB1}" type="slidenum">
              <a:rPr lang="en-US" smtClean="0"/>
              <a:t>‹#›</a:t>
            </a:fld>
            <a:endParaRPr lang="en-US"/>
          </a:p>
        </p:txBody>
      </p:sp>
    </p:spTree>
    <p:extLst>
      <p:ext uri="{BB962C8B-B14F-4D97-AF65-F5344CB8AC3E}">
        <p14:creationId xmlns:p14="http://schemas.microsoft.com/office/powerpoint/2010/main" val="19283701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were asked where a limited delivery of 50,000 insecticide-treated nets should go across northern Ghana, and how confident we can be in the district numbers behind that choice. We start with our recommendation, then show the evidence and its limits.</a:t>
            </a:r>
          </a:p>
          <a:p>
            <a:r>
              <a:t>Add the presenters' names to this slide before the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Within each region the rule allocates in proportion to population, because coverage is measured once per region. The regional totals come from our negative binomial model and are our base case; be upfront that the regional split depends on the model.</a:t>
            </a:r>
          </a:p>
          <a:p>
            <a:r>
              <a:t>Sources: notebooks/04_allocation.ipynb, cell alloc_cd07 (regional totals), alloc_cd11 (nets per 1,000 people) and alloc_cd13 (7,720 nets moved under the region-effects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why district detail matters. Be careful with the wording: the 49% is a model prediction for children aged 6 months to 10 years, and its highest values fall in forest areas, not slums. The 2% is the 2022 DHS microscopy figure for children under five (3.4% by rapid test).</a:t>
            </a:r>
          </a:p>
          <a:p>
            <a:r>
              <a:t>Sources: Oppong et al., Malaria Journal, doi:10.1186/s12936-025-05724-9 (https://pmc.ncbi.nlm.nih.gov/articles/PMC12829291/); Ghana DHS 2022 final report FR387, Table 12.15.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two very different sources. The survey is representative but only resolves to region; the surveillance has district detail but only for the north.</a:t>
            </a:r>
          </a:p>
          <a:p>
            <a:r>
              <a:t>Sources: 17,933 households and 618 clusters: data dictionary and notebooks/02 cell cd03. 71.0% vs 66.8% (claim C-01): notebooks/01_eda.ipynb cell eda_cd05. 50 districts on 53 polygons, 207 of 260 districts without data: scripts/verify_claims.py (map join, same logic as src/viz.py). Maps: figures/b1_data_availability.png and figures/b1_district_case_rate.png from notebook 01, with their titles trimmed.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Under a Poisson model the variance equals the mean. Here the variance is 77,183 times the mean, and even after adjusting for population the dispersion ratio is 54,147. The negative binomial adds one dispersion parameter and fits far better. The figure's curves use no covariates (alpha 0.395); the model we use has a population offset (alpha 0.268).</a:t>
            </a:r>
          </a:p>
          <a:p>
            <a:r>
              <a:t>Sources: notebooks/02_distributions.ipynb cells cd09 (77,183), cd15 (442, 122,882, 278 times), cd18 (0.395), cd25 and cd26 (54,147; alpha 0.2677; AIC gap 2,393,669). Figure: figures/a3_poisson_vs_nb.png,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survey samples clusters, then households. Resampling households alone pretends each is independent and gives an interval half as wide as it should be.</a:t>
            </a:r>
          </a:p>
          <a:p>
            <a:r>
              <a:t>Sources: notebooks/02_distributions.ipynb cells cd31 (582 households, 20 clusters), cd33 and cd34 (15.20 vs 7.17, 2.12 times, design effect 4.50), cd37 (published ITN intervals empty, 0 of 76), cd39 (67.69% vs 67.6%). Seed spread 4.46 to 5.39 and design-based 4.18: scripts/verify_claims.py section A. Rank 10th of 16: scripts/verify_claims.py section D. Figure: figures/a4_bootstrap_ci_comparison.png, title trimmed.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each leak deliberately and compared it with the disciplined version. The spatial one needed a different test from the one we first used: comparing a random split with a stratified split at a single seed compares two different random test sets, and across seeds the difference disappears.</a:t>
            </a:r>
          </a:p>
          <a:p>
            <a:r>
              <a:t>Sources: notebooks/03_pipeline_leakage.ipynb cells leak_cd04 (87,144 vs 87,356), leak_cd06 (R² 1.0000 vs 0.2618), leak_cd08 (one seed), leak_cd12 (500 seeds) and leak_cd14 (whole region held out); the table itself is leak_cd10.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Stratifying by region keeps every region in both training and test, so neighbours still leak. Only holding a whole region out tests what the model does somewhere new, and the error roughly quadruples.</a:t>
            </a:r>
          </a:p>
          <a:p>
            <a:r>
              <a:t>Sources: notebooks/03_pipeline_leakage.ipynb, cells leak_cd12 (500 seeds) and leak_cd14 (whole region held out, via io.split_data(..., hold_out=region)). Literature: Ploton et al. 2020, Nature Communications 11:4540, doi:10.1038/s41467-020-18321-y; Kattenborn et al. 2022, ISPRS Open Journal of Photogrammetry and Remote Sensing, doi:10.1016/j.ophoto.2022.100018 (up to 28% overestimation of F1-score).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slide writes the rule as math; say it in words. Line one: expected confirmed cases grow in proportion to population and depend on the region's net coverage (a negative binomial model with a population offset). Line two: each district's weight is the cautious upper end of its expected cases times the share of homes without a net. Line three: Hamilton's largest-remainder method turns the weights into exactly 50,000 whole nets. Then: because coverage is one number per region, inside a region nets follow population; the upper bound adds one multiplier per region; and the coverage coefficient is positive because nets went where malaria was worst, so the split between regions is uncertain.</a:t>
            </a:r>
          </a:p>
          <a:p>
            <a:r>
              <a:t>Symbols: i = district (the unit); mu_i = expected confirmed cases, 2014-17 (the target); w_i = allocation weight (the metric); pop_i = population; c_i = % of homes owning a net in i's region (DHS 2022); U_i = upper 95% confidence bound for mu_i; q_i = exact share; A_i = nets.</a:t>
            </a:r>
          </a:p>
          <a:p>
            <a:r>
              <a:t>Sources: notebooks/04_allocation.ipynb cells alloc_cd05 (alpha 0.2677) and alloc_cd11 (beta_1 = +0.0823, p = 1.7e-07; U_i / mu_i = 1.198, 1.342, 1.162; nets per 1,000 people); src/models.py compute_allocation and hamilton. Coverage values: notebooks/02 cell cd06 and scripts/verify_claims.py section 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left map shows reported burden: confirmed cases per person over 2014-17. It is highest in Upper East and Upper West and lowest across Northern Region, where the test data point to under-testing. The right map shows how sure we are: the upper end of our 95% interval sits 20% above the estimate in Northern, 34% in Upper East and 16% in Upper West. It is one number per region because coverage is. Our rule uses that upper bound, so it leans towards the region we are least sure about.</a:t>
            </a:r>
          </a:p>
          <a:p>
            <a:r>
              <a:t>Sources: cases per person and the upper-to-expected ratios 1.198, 1.342 and 1.162: notebooks/04_allocation.ipynb cell alloc_cd11. Both maps are drawn with src/viz.plot_district_choropleth from models.compute_allocation, zoomed to the north like the allocation map. The two-map layout (burden next to uncertainty) follows the course roadmap.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allocation our current rule produces.</a:t>
            </a:r>
          </a:p>
          <a:p>
            <a:r>
              <a:t>Sources: the 50-district schedule in reports/allocation.md reproduces exactly from notebooks/04_allocation.ipynb (cells alloc_cd07 and alloc_cd09; scripts/verify_claims.py section C checks all 50 rows). Map drawn with src/viz.plot_district_choropleth from the same allocation, zoomed to the north. The three pre-2018 districts later split (Garu-Tempane, Savelugu-Nanton, Bunkpurugu-Yunyoo) show their total on both successor areas.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Against a case-proportional comparator, nets move from districts with high reported cases per person to populous districts. That follows from treating everyone in a region as equally at risk. Referral bias may exist, but our data do not show it: Bolgatanga ranks only 4th of 13 in Upper East on cases per person, and Nabdam, often named as a sending district, ranks 1st.</a:t>
            </a:r>
          </a:p>
          <a:p>
            <a:r>
              <a:t>Sources: gains and losses: notebooks/04_allocation.ipynb alloc_cd09; cases-per-person ranks: alloc_cd11 (Tamale lowest of 50, Nabdam highest of 50, Bole highest in its region). Ghana's ITN strategy: PMI Ghana Malaria Operational Plan FY2017. Tamale Teaching Hospital as the only tertiary provider for the three northern regions: https://tth.gov.gh/about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we volunteer our weak points. A region-effects model, which fits the data better, moves 7,720 nets. Correcting the coverage of 11 districts moves 3,740. Lowering Northern Region's coverage gives it fewer nets, not more, because of the positive coverage coefficient.</a:t>
            </a:r>
          </a:p>
          <a:p>
            <a:r>
              <a:t>Sources: notebooks/04_allocation.ipynb cell alloc_cd13, which also prints the coverage it uses (Savannah 79.1%, North East 62.8%; published 79.1% and 62.6%, GDHS 2022 Table 12.1) and the Northern cluster-bootstrap bounds 61.4% and 74.0% (as in notebooks/02 cell cd39).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Equity is about who the rule helps and who it cannot see.</a:t>
            </a:r>
          </a:p>
          <a:p>
            <a:r>
              <a:t>Sources: 207 of 260 districts: scripts/verify_claims.py (map join). Test positivity and cases per person by region: scripts/verify_claims.py section E. Spraying and chemoprevention counts: scripts/verify_claims.py section E, from data/raw/northern-ghana-districts-routine-data-2014-17.xlsx (these columns are not in ghana_district_cases.csv). Campaign rules: PMI Ghana Malaria Operational Plan FY2017. Privacy: git history holds no data files and no notebook outputs (checked 2026-09-22).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limits we know about, and what we would do before any real distribution.</a:t>
            </a:r>
          </a:p>
          <a:p>
            <a:r>
              <a:t>Sources: 11 districts, 3,740 nets, 79.1% and 62.8%: notebooks/04_allocation.ipynb alloc_cd13. 39 of 50 districts: scripts/verify_claims.py section E. Empty ITN intervals: notebooks/02 cell cd37. No district identifier or parasitaemia: notebooks/02 cell cd06.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Every number in this deck has its source in the speaker notes; we are happy to take questions on any of them.</a:t>
            </a:r>
          </a:p>
          <a:p>
            <a:r>
              <a:t>The footnote is the group's AI declaration. Each member's own AI-use declaration is part of their individual reflection.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1646345"/>
            <a:ext cx="9144000" cy="2387600"/>
          </a:xfrm>
        </p:spPr>
        <p:txBody>
          <a:bodyPr anchor="b">
            <a:normAutofit/>
          </a:bodyPr>
          <a:lstStyle>
            <a:lvl1pPr algn="ctr">
              <a:defRPr sz="7200" b="1">
                <a:solidFill>
                  <a:schemeClr val="bg1"/>
                </a:solidFill>
                <a:latin typeface="Poppins" pitchFamily="2" charset="77"/>
                <a:cs typeface="Poppins" pitchFamily="2" charset="77"/>
              </a:defRPr>
            </a:lvl1pPr>
          </a:lstStyle>
          <a:p>
            <a:r>
              <a:rPr lang="en-US" dirty="0"/>
              <a:t>Presentation Title</a:t>
            </a:r>
          </a:p>
        </p:txBody>
      </p:sp>
      <p:sp>
        <p:nvSpPr>
          <p:cNvPr id="3" name="Subtitle 2">
            <a:extLst>
              <a:ext uri="{FF2B5EF4-FFF2-40B4-BE49-F238E27FC236}">
                <a16:creationId xmlns:a16="http://schemas.microsoft.com/office/drawing/2014/main" id="{B01F9ADF-AB1D-D8EF-C0DC-CC65B87FEC60}"/>
              </a:ext>
            </a:extLst>
          </p:cNvPr>
          <p:cNvSpPr>
            <a:spLocks noGrp="1"/>
          </p:cNvSpPr>
          <p:nvPr>
            <p:ph type="subTitle" idx="1" hasCustomPrompt="1"/>
          </p:nvPr>
        </p:nvSpPr>
        <p:spPr>
          <a:xfrm>
            <a:off x="1524000" y="4126020"/>
            <a:ext cx="9144000" cy="1655762"/>
          </a:xfrm>
        </p:spPr>
        <p:txBody>
          <a:bodyPr>
            <a:normAutofit/>
          </a:bodyPr>
          <a:lstStyle>
            <a:lvl1pPr marL="0" indent="0" algn="ctr">
              <a:buNone/>
              <a:defRPr sz="2800">
                <a:solidFill>
                  <a:srgbClr val="FEBA5A"/>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Name of presenter/Presentation Theme</a:t>
            </a:r>
          </a:p>
        </p:txBody>
      </p:sp>
      <p:pic>
        <p:nvPicPr>
          <p:cNvPr id="5" name="Picture 4" descr="A logo on a black background&#10;&#10;AI-generated content may be incorrect.">
            <a:extLst>
              <a:ext uri="{FF2B5EF4-FFF2-40B4-BE49-F238E27FC236}">
                <a16:creationId xmlns:a16="http://schemas.microsoft.com/office/drawing/2014/main" id="{740E5B89-BE2A-8897-9C51-87939D7ACE0C}"/>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210416622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mage +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p:cNvSpPr>
          <p:nvPr userDrawn="1"/>
        </p:nvSpPr>
        <p:spPr>
          <a:xfrm>
            <a:off x="6519862" y="0"/>
            <a:ext cx="5757755"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Picture Placeholder 10">
            <a:extLst>
              <a:ext uri="{FF2B5EF4-FFF2-40B4-BE49-F238E27FC236}">
                <a16:creationId xmlns:a16="http://schemas.microsoft.com/office/drawing/2014/main" id="{E6EEFFD5-8D2F-6A6F-D9D7-941FC95C9AFD}"/>
              </a:ext>
            </a:extLst>
          </p:cNvPr>
          <p:cNvSpPr>
            <a:spLocks noGrp="1"/>
          </p:cNvSpPr>
          <p:nvPr>
            <p:ph type="pic" sz="quarter" idx="12"/>
          </p:nvPr>
        </p:nvSpPr>
        <p:spPr>
          <a:xfrm>
            <a:off x="6519863" y="0"/>
            <a:ext cx="5757862" cy="6858000"/>
          </a:xfrm>
        </p:spPr>
        <p:txBody>
          <a:bodyPr/>
          <a:lstStyle/>
          <a:p>
            <a:endParaRPr lang="en-US"/>
          </a:p>
        </p:txBody>
      </p:sp>
      <p:sp>
        <p:nvSpPr>
          <p:cNvPr id="5" name="Text Placeholder 4">
            <a:extLst>
              <a:ext uri="{FF2B5EF4-FFF2-40B4-BE49-F238E27FC236}">
                <a16:creationId xmlns:a16="http://schemas.microsoft.com/office/drawing/2014/main" id="{FEF3FB70-BBA1-C271-9855-4C1FF207E380}"/>
              </a:ext>
            </a:extLst>
          </p:cNvPr>
          <p:cNvSpPr>
            <a:spLocks noGrp="1"/>
          </p:cNvSpPr>
          <p:nvPr>
            <p:ph type="body" sz="quarter" idx="10" hasCustomPrompt="1"/>
          </p:nvPr>
        </p:nvSpPr>
        <p:spPr>
          <a:xfrm>
            <a:off x="571500" y="1888095"/>
            <a:ext cx="5100639" cy="3571875"/>
          </a:xfrm>
        </p:spPr>
        <p:txBody>
          <a:bodyPr/>
          <a:lstStyle>
            <a:lvl1pPr marL="9525" indent="-9525">
              <a:lnSpc>
                <a:spcPct val="90000"/>
              </a:lnSpc>
              <a:spcBef>
                <a:spcPts val="0"/>
              </a:spcBef>
              <a:spcAft>
                <a:spcPts val="0"/>
              </a:spcAft>
              <a:buNone/>
              <a:tabLst/>
              <a:defRPr sz="2000">
                <a:solidFill>
                  <a:schemeClr val="tx1"/>
                </a:solidFill>
              </a:defRPr>
            </a:lvl1pPr>
            <a:lvl2pPr marL="234950" indent="-234950">
              <a:lnSpc>
                <a:spcPct val="90000"/>
              </a:lnSpc>
              <a:spcBef>
                <a:spcPts val="0"/>
              </a:spcBef>
              <a:spcAft>
                <a:spcPts val="0"/>
              </a:spcAft>
              <a:buNone/>
              <a:tabLst/>
              <a:defRPr sz="2000">
                <a:solidFill>
                  <a:schemeClr val="bg1"/>
                </a:solidFill>
              </a:defRPr>
            </a:lvl2pPr>
            <a:lvl3pPr marL="234950" indent="-234950">
              <a:lnSpc>
                <a:spcPct val="90000"/>
              </a:lnSpc>
              <a:spcBef>
                <a:spcPts val="0"/>
              </a:spcBef>
              <a:spcAft>
                <a:spcPts val="0"/>
              </a:spcAft>
              <a:buNone/>
              <a:tabLst/>
              <a:defRPr sz="2000">
                <a:solidFill>
                  <a:schemeClr val="bg1"/>
                </a:solidFill>
              </a:defRPr>
            </a:lvl3pPr>
            <a:lvl4pPr marL="234950" indent="-234950">
              <a:lnSpc>
                <a:spcPct val="90000"/>
              </a:lnSpc>
              <a:spcBef>
                <a:spcPts val="0"/>
              </a:spcBef>
              <a:spcAft>
                <a:spcPts val="0"/>
              </a:spcAft>
              <a:buNone/>
              <a:tabLst/>
              <a:defRPr sz="2000">
                <a:solidFill>
                  <a:schemeClr val="bg1"/>
                </a:solidFill>
              </a:defRPr>
            </a:lvl4pPr>
            <a:lvl5pPr marL="234950" indent="-234950">
              <a:lnSpc>
                <a:spcPct val="90000"/>
              </a:lnSpc>
              <a:spcBef>
                <a:spcPts val="0"/>
              </a:spcBef>
              <a:spcAft>
                <a:spcPts val="0"/>
              </a:spcAft>
              <a:buNone/>
              <a:tabLst/>
              <a:defRPr sz="2000">
                <a:solidFill>
                  <a:schemeClr val="bg1"/>
                </a:solidFill>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Proin pharetra nonummy pede. Mauris et orci.</a:t>
            </a:r>
          </a:p>
          <a:p>
            <a:pPr lvl="0"/>
            <a:endParaRPr lang="en-US" dirty="0"/>
          </a:p>
        </p:txBody>
      </p:sp>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366963" cy="825785"/>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E7071D51-2DED-DED6-4D8B-311C90842A7E}"/>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4831926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age+text2">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608DBBC-2EEC-3B63-D7C7-7266B5211665}"/>
              </a:ext>
            </a:extLst>
          </p:cNvPr>
          <p:cNvSpPr>
            <a:spLocks noGrp="1"/>
          </p:cNvSpPr>
          <p:nvPr>
            <p:ph type="body" sz="quarter" idx="10" hasCustomPrompt="1"/>
          </p:nvPr>
        </p:nvSpPr>
        <p:spPr>
          <a:xfrm>
            <a:off x="571500" y="1718251"/>
            <a:ext cx="5099050" cy="3853874"/>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porttitor congue massa. Fusce posuere, magna sed pulvinar ultricies, purus lectus malesuada libero, sit amet commodo magna eros quis </a:t>
            </a:r>
            <a:r>
              <a:rPr lang="en-US" dirty="0" err="1"/>
              <a:t>urna</a:t>
            </a:r>
            <a:r>
              <a:rPr lang="en-US"/>
              <a:t>.</a:t>
            </a:r>
            <a:br>
              <a:rPr lang="en-US"/>
            </a:br>
            <a:br>
              <a:rPr lang="en-US"/>
            </a:br>
            <a:r>
              <a:rPr lang="en-US"/>
              <a:t>Nunc </a:t>
            </a:r>
            <a:r>
              <a:rPr lang="en-US" dirty="0"/>
              <a:t>viverra imperdiet enim. Fusce est. Vivamus a </a:t>
            </a:r>
            <a:r>
              <a:rPr lang="en-US" dirty="0" err="1"/>
              <a:t>tellus</a:t>
            </a:r>
            <a:r>
              <a:rPr lang="en-US" dirty="0"/>
              <a:t>. </a:t>
            </a:r>
            <a:r>
              <a:rPr lang="en-US" dirty="0" err="1"/>
              <a:t>Pellentesque</a:t>
            </a:r>
            <a:r>
              <a:rPr lang="en-US" dirty="0"/>
              <a:t> habitant morbi tristique senectus et netus et malesuada fames ac turpis egestas. </a:t>
            </a:r>
          </a:p>
        </p:txBody>
      </p:sp>
      <p:sp>
        <p:nvSpPr>
          <p:cNvPr id="9" name="Text Placeholder 8">
            <a:extLst>
              <a:ext uri="{FF2B5EF4-FFF2-40B4-BE49-F238E27FC236}">
                <a16:creationId xmlns:a16="http://schemas.microsoft.com/office/drawing/2014/main" id="{EEB79326-57CB-B585-F8AA-E3AE38C62A9B}"/>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14" name="Online Image Placeholder 13">
            <a:extLst>
              <a:ext uri="{FF2B5EF4-FFF2-40B4-BE49-F238E27FC236}">
                <a16:creationId xmlns:a16="http://schemas.microsoft.com/office/drawing/2014/main" id="{2C7AA65B-40A4-C038-8C70-8C73E9A7E96A}"/>
              </a:ext>
            </a:extLst>
          </p:cNvPr>
          <p:cNvSpPr>
            <a:spLocks noGrp="1"/>
          </p:cNvSpPr>
          <p:nvPr>
            <p:ph type="clipArt" sz="quarter" idx="12"/>
          </p:nvPr>
        </p:nvSpPr>
        <p:spPr>
          <a:xfrm>
            <a:off x="6637338" y="571500"/>
            <a:ext cx="4983162" cy="4983163"/>
          </a:xfrm>
          <a:solidFill>
            <a:schemeClr val="bg1">
              <a:lumMod val="85000"/>
            </a:schemeClr>
          </a:solidFill>
        </p:spPr>
        <p:txBody>
          <a:bodyPr/>
          <a:lstStyle/>
          <a:p>
            <a:endParaRPr lang="en-US"/>
          </a:p>
        </p:txBody>
      </p:sp>
      <p:pic>
        <p:nvPicPr>
          <p:cNvPr id="3" name="Picture 2" descr="A person standing in front of a black background&#10;&#10;AI-generated content may be incorrect.">
            <a:extLst>
              <a:ext uri="{FF2B5EF4-FFF2-40B4-BE49-F238E27FC236}">
                <a16:creationId xmlns:a16="http://schemas.microsoft.com/office/drawing/2014/main" id="{8BA22CA2-7FB6-DBFF-30E0-A66D4015C802}"/>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9118440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Heavy">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571500"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Page Title Goes Here</a:t>
            </a:r>
          </a:p>
        </p:txBody>
      </p:sp>
      <p:sp>
        <p:nvSpPr>
          <p:cNvPr id="6" name="Text Placeholder 5">
            <a:extLst>
              <a:ext uri="{FF2B5EF4-FFF2-40B4-BE49-F238E27FC236}">
                <a16:creationId xmlns:a16="http://schemas.microsoft.com/office/drawing/2014/main" id="{E85375A8-91AB-0E93-E5FB-EC93D13BAFBE}"/>
              </a:ext>
            </a:extLst>
          </p:cNvPr>
          <p:cNvSpPr>
            <a:spLocks noGrp="1"/>
          </p:cNvSpPr>
          <p:nvPr>
            <p:ph type="body" sz="quarter" idx="12" hasCustomPrompt="1"/>
          </p:nvPr>
        </p:nvSpPr>
        <p:spPr>
          <a:xfrm>
            <a:off x="571500" y="1705831"/>
            <a:ext cx="532586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egestas. </a:t>
            </a:r>
          </a:p>
        </p:txBody>
      </p:sp>
      <p:sp>
        <p:nvSpPr>
          <p:cNvPr id="8" name="Text Placeholder 5">
            <a:extLst>
              <a:ext uri="{FF2B5EF4-FFF2-40B4-BE49-F238E27FC236}">
                <a16:creationId xmlns:a16="http://schemas.microsoft.com/office/drawing/2014/main" id="{B959AB93-84F2-5EFC-AA67-B631245F3EC0}"/>
              </a:ext>
            </a:extLst>
          </p:cNvPr>
          <p:cNvSpPr>
            <a:spLocks noGrp="1"/>
          </p:cNvSpPr>
          <p:nvPr>
            <p:ph type="body" sz="quarter" idx="13" hasCustomPrompt="1"/>
          </p:nvPr>
        </p:nvSpPr>
        <p:spPr>
          <a:xfrm>
            <a:off x="6411074" y="1705831"/>
            <a:ext cx="5209426" cy="3866294"/>
          </a:xfrm>
        </p:spPr>
        <p:txBody>
          <a:bodyPr numCol="1">
            <a:noAutofit/>
          </a:bodyPr>
          <a:lstStyle>
            <a:lvl1pPr marL="9525" indent="0">
              <a:lnSpc>
                <a:spcPct val="100000"/>
              </a:lnSpc>
              <a:spcBef>
                <a:spcPts val="200"/>
              </a:spcBef>
              <a:buNone/>
              <a:tabLst/>
              <a:defRPr sz="2000"/>
            </a:lvl1pPr>
            <a:lvl2pPr marL="9525" indent="0">
              <a:buNone/>
              <a:tabLst/>
              <a:defRPr/>
            </a:lvl2pPr>
            <a:lvl3pPr marL="9525" indent="0">
              <a:buNone/>
              <a:tabLst/>
              <a:defRPr/>
            </a:lvl3pPr>
            <a:lvl4pPr marL="9525" indent="0">
              <a:buNone/>
              <a:tabLst/>
              <a:defRPr/>
            </a:lvl4pPr>
            <a:lvl5pPr marL="9525" indent="0">
              <a:buNone/>
              <a:tabLst/>
              <a:defRPr/>
            </a:lvl5pPr>
          </a:lstStyle>
          <a:p>
            <a:pPr lvl="0"/>
            <a:r>
              <a:rPr lang="en-US" dirty="0"/>
              <a:t>Lorem ipsum dolor sit amet, consectetuer adipiscing elit. Maecenas porttitor congue massa. Fusce posuere, magna sed pulvinar ultricies, purus lectus malesuada libero, sit amet commodo magna eros quis urna.</a:t>
            </a:r>
          </a:p>
          <a:p>
            <a:pPr lvl="0"/>
            <a:endParaRPr lang="en-US" dirty="0"/>
          </a:p>
          <a:p>
            <a:pPr lvl="0"/>
            <a:r>
              <a:rPr lang="en-US" dirty="0"/>
              <a:t>Nunc viverra imperdiet enim. Fusce est. Vivamus a tellus.</a:t>
            </a:r>
          </a:p>
          <a:p>
            <a:pPr lvl="0"/>
            <a:endParaRPr lang="en-US" dirty="0"/>
          </a:p>
          <a:p>
            <a:pPr lvl="0"/>
            <a:r>
              <a:rPr lang="en-US" dirty="0"/>
              <a:t>Pellentesque habitant morbi tristique senectus et netus et malesuada fames ac turpis </a:t>
            </a:r>
            <a:r>
              <a:rPr lang="en-US" dirty="0" err="1"/>
              <a:t>egestas</a:t>
            </a:r>
            <a:r>
              <a:rPr lang="en-US" dirty="0"/>
              <a:t>.</a:t>
            </a:r>
          </a:p>
        </p:txBody>
      </p:sp>
      <p:pic>
        <p:nvPicPr>
          <p:cNvPr id="2" name="Picture 1" descr="A person standing in front of a black background&#10;&#10;AI-generated content may be incorrect.">
            <a:extLst>
              <a:ext uri="{FF2B5EF4-FFF2-40B4-BE49-F238E27FC236}">
                <a16:creationId xmlns:a16="http://schemas.microsoft.com/office/drawing/2014/main" id="{1F06BF25-D7FE-588C-3AF2-B632FFF7FCC1}"/>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80943675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5B35178F-B3E4-F499-8725-5BB0E2121E46}"/>
              </a:ext>
            </a:extLst>
          </p:cNvPr>
          <p:cNvSpPr>
            <a:spLocks noGrp="1"/>
          </p:cNvSpPr>
          <p:nvPr>
            <p:ph type="body" sz="quarter" idx="11" hasCustomPrompt="1"/>
          </p:nvPr>
        </p:nvSpPr>
        <p:spPr>
          <a:xfrm>
            <a:off x="3176213" y="2714625"/>
            <a:ext cx="5839574" cy="866882"/>
          </a:xfrm>
        </p:spPr>
        <p:txBody>
          <a:bodyPr>
            <a:noAutofit/>
          </a:bodyPr>
          <a:lstStyle>
            <a:lvl1pPr marL="9525" indent="-9525" algn="ctr">
              <a:buNone/>
              <a:tabLst/>
              <a:defRPr sz="40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Section 1</a:t>
            </a:r>
          </a:p>
        </p:txBody>
      </p:sp>
      <p:pic>
        <p:nvPicPr>
          <p:cNvPr id="3" name="Picture 2" descr="A person standing in front of a black background&#10;&#10;AI-generated content may be incorrect.">
            <a:extLst>
              <a:ext uri="{FF2B5EF4-FFF2-40B4-BE49-F238E27FC236}">
                <a16:creationId xmlns:a16="http://schemas.microsoft.com/office/drawing/2014/main" id="{C7E7E30D-48A9-0F2C-D52B-0DCE97DD8DD0}"/>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85738545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Cap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461E0C39-5847-34EA-6718-F8C2CDEBD677}"/>
              </a:ext>
            </a:extLst>
          </p:cNvPr>
          <p:cNvSpPr>
            <a:spLocks noGrp="1"/>
          </p:cNvSpPr>
          <p:nvPr>
            <p:ph type="pic" sz="quarter" idx="10"/>
          </p:nvPr>
        </p:nvSpPr>
        <p:spPr>
          <a:xfrm>
            <a:off x="490018" y="571500"/>
            <a:ext cx="3540125" cy="3571875"/>
          </a:xfrm>
          <a:solidFill>
            <a:schemeClr val="bg1">
              <a:lumMod val="85000"/>
            </a:schemeClr>
          </a:solidFill>
        </p:spPr>
        <p:txBody>
          <a:bodyPr/>
          <a:lstStyle/>
          <a:p>
            <a:endParaRPr lang="en-US"/>
          </a:p>
        </p:txBody>
      </p:sp>
      <p:sp>
        <p:nvSpPr>
          <p:cNvPr id="6" name="Picture Placeholder 4">
            <a:extLst>
              <a:ext uri="{FF2B5EF4-FFF2-40B4-BE49-F238E27FC236}">
                <a16:creationId xmlns:a16="http://schemas.microsoft.com/office/drawing/2014/main" id="{8F0386ED-403C-9CE4-79D4-FB74F6612BB7}"/>
              </a:ext>
            </a:extLst>
          </p:cNvPr>
          <p:cNvSpPr>
            <a:spLocks noGrp="1"/>
          </p:cNvSpPr>
          <p:nvPr>
            <p:ph type="pic" sz="quarter" idx="11"/>
          </p:nvPr>
        </p:nvSpPr>
        <p:spPr>
          <a:xfrm>
            <a:off x="4332552" y="571500"/>
            <a:ext cx="3540125" cy="3571875"/>
          </a:xfrm>
          <a:solidFill>
            <a:schemeClr val="bg1">
              <a:lumMod val="85000"/>
            </a:schemeClr>
          </a:solidFill>
        </p:spPr>
        <p:txBody>
          <a:bodyPr/>
          <a:lstStyle/>
          <a:p>
            <a:endParaRPr lang="en-US"/>
          </a:p>
        </p:txBody>
      </p:sp>
      <p:sp>
        <p:nvSpPr>
          <p:cNvPr id="7" name="Picture Placeholder 4">
            <a:extLst>
              <a:ext uri="{FF2B5EF4-FFF2-40B4-BE49-F238E27FC236}">
                <a16:creationId xmlns:a16="http://schemas.microsoft.com/office/drawing/2014/main" id="{4DFF1C96-1D9C-0242-A355-B902B1CB68A8}"/>
              </a:ext>
            </a:extLst>
          </p:cNvPr>
          <p:cNvSpPr>
            <a:spLocks noGrp="1"/>
          </p:cNvSpPr>
          <p:nvPr>
            <p:ph type="pic" sz="quarter" idx="12"/>
          </p:nvPr>
        </p:nvSpPr>
        <p:spPr>
          <a:xfrm>
            <a:off x="8175087" y="571500"/>
            <a:ext cx="3540125" cy="3571875"/>
          </a:xfrm>
          <a:solidFill>
            <a:schemeClr val="bg1">
              <a:lumMod val="85000"/>
            </a:schemeClr>
          </a:solidFill>
        </p:spPr>
        <p:txBody>
          <a:bodyPr/>
          <a:lstStyle/>
          <a:p>
            <a:endParaRPr lang="en-US"/>
          </a:p>
        </p:txBody>
      </p:sp>
      <p:sp>
        <p:nvSpPr>
          <p:cNvPr id="10" name="Text Placeholder 9">
            <a:extLst>
              <a:ext uri="{FF2B5EF4-FFF2-40B4-BE49-F238E27FC236}">
                <a16:creationId xmlns:a16="http://schemas.microsoft.com/office/drawing/2014/main" id="{B36654BE-A652-EA96-9C4B-5654EE38EEC1}"/>
              </a:ext>
            </a:extLst>
          </p:cNvPr>
          <p:cNvSpPr>
            <a:spLocks noGrp="1"/>
          </p:cNvSpPr>
          <p:nvPr>
            <p:ph type="body" sz="quarter" idx="13" hasCustomPrompt="1"/>
          </p:nvPr>
        </p:nvSpPr>
        <p:spPr>
          <a:xfrm>
            <a:off x="490538"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1" name="Text Placeholder 9">
            <a:extLst>
              <a:ext uri="{FF2B5EF4-FFF2-40B4-BE49-F238E27FC236}">
                <a16:creationId xmlns:a16="http://schemas.microsoft.com/office/drawing/2014/main" id="{F0E8F210-ED7A-42FC-153F-7FB4542F93E4}"/>
              </a:ext>
            </a:extLst>
          </p:cNvPr>
          <p:cNvSpPr>
            <a:spLocks noGrp="1"/>
          </p:cNvSpPr>
          <p:nvPr>
            <p:ph type="body" sz="quarter" idx="14" hasCustomPrompt="1"/>
          </p:nvPr>
        </p:nvSpPr>
        <p:spPr>
          <a:xfrm>
            <a:off x="432279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sp>
        <p:nvSpPr>
          <p:cNvPr id="12" name="Text Placeholder 9">
            <a:extLst>
              <a:ext uri="{FF2B5EF4-FFF2-40B4-BE49-F238E27FC236}">
                <a16:creationId xmlns:a16="http://schemas.microsoft.com/office/drawing/2014/main" id="{BFC5AF15-335B-D159-89A8-60AC7CBF5317}"/>
              </a:ext>
            </a:extLst>
          </p:cNvPr>
          <p:cNvSpPr>
            <a:spLocks noGrp="1"/>
          </p:cNvSpPr>
          <p:nvPr>
            <p:ph type="body" sz="quarter" idx="15" hasCustomPrompt="1"/>
          </p:nvPr>
        </p:nvSpPr>
        <p:spPr>
          <a:xfrm>
            <a:off x="8155059" y="4346575"/>
            <a:ext cx="3321174" cy="1225550"/>
          </a:xfrm>
        </p:spPr>
        <p:txBody>
          <a:bodyPr/>
          <a:lstStyle>
            <a:lvl1pPr marL="9525" indent="-9525">
              <a:buNone/>
              <a:tabLst/>
              <a:defRPr sz="2000"/>
            </a:lvl1pPr>
            <a:lvl2pPr marL="9525" indent="-9525">
              <a:buNone/>
              <a:tabLst/>
              <a:defRPr sz="2000"/>
            </a:lvl2pPr>
            <a:lvl3pPr marL="9525" indent="-9525">
              <a:buNone/>
              <a:tabLst/>
              <a:defRPr sz="2000"/>
            </a:lvl3pPr>
            <a:lvl4pPr marL="9525" indent="-9525">
              <a:buNone/>
              <a:tabLst/>
              <a:defRPr sz="2000"/>
            </a:lvl4pPr>
            <a:lvl5pPr marL="9525" indent="-9525">
              <a:buNone/>
              <a:tabLst/>
              <a:defRPr sz="2000"/>
            </a:lvl5pPr>
          </a:lstStyle>
          <a:p>
            <a:pPr lvl="0"/>
            <a:r>
              <a:rPr lang="en-US" dirty="0"/>
              <a:t>Lorem ipsum dolor sit amet, consectetuer adipiscing elit. Maecenas </a:t>
            </a:r>
            <a:r>
              <a:rPr lang="en-US" dirty="0" err="1"/>
              <a:t>porttitor</a:t>
            </a:r>
            <a:r>
              <a:rPr lang="en-US" dirty="0"/>
              <a:t> </a:t>
            </a:r>
            <a:r>
              <a:rPr lang="en-US" dirty="0" err="1"/>
              <a:t>congue</a:t>
            </a:r>
            <a:endParaRPr lang="en-US" dirty="0"/>
          </a:p>
        </p:txBody>
      </p:sp>
      <p:pic>
        <p:nvPicPr>
          <p:cNvPr id="3" name="Picture 2" descr="A person standing in front of a black background&#10;&#10;AI-generated content may be incorrect.">
            <a:extLst>
              <a:ext uri="{FF2B5EF4-FFF2-40B4-BE49-F238E27FC236}">
                <a16:creationId xmlns:a16="http://schemas.microsoft.com/office/drawing/2014/main" id="{251C0F5F-3286-C730-7CFD-3A9657C6338A}"/>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330824419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Image">
    <p:spTree>
      <p:nvGrpSpPr>
        <p:cNvPr id="1" name=""/>
        <p:cNvGrpSpPr/>
        <p:nvPr/>
      </p:nvGrpSpPr>
      <p:grpSpPr>
        <a:xfrm>
          <a:off x="0" y="0"/>
          <a:ext cx="0" cy="0"/>
          <a:chOff x="0" y="0"/>
          <a:chExt cx="0" cy="0"/>
        </a:xfrm>
      </p:grpSpPr>
      <p:pic>
        <p:nvPicPr>
          <p:cNvPr id="3" name="Picture 2" descr="A person standing in front of a black background&#10;&#10;AI-generated content may be incorrect.">
            <a:extLst>
              <a:ext uri="{FF2B5EF4-FFF2-40B4-BE49-F238E27FC236}">
                <a16:creationId xmlns:a16="http://schemas.microsoft.com/office/drawing/2014/main" id="{2A1B0E3B-CBB4-E674-936A-616C31472145}"/>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19171464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Blank Image">
    <p:spTree>
      <p:nvGrpSpPr>
        <p:cNvPr id="1" name=""/>
        <p:cNvGrpSpPr/>
        <p:nvPr/>
      </p:nvGrpSpPr>
      <p:grpSpPr>
        <a:xfrm>
          <a:off x="0" y="0"/>
          <a:ext cx="0" cy="0"/>
          <a:chOff x="0" y="0"/>
          <a:chExt cx="0" cy="0"/>
        </a:xfrm>
      </p:grpSpPr>
      <p:sp>
        <p:nvSpPr>
          <p:cNvPr id="6" name="Table Placeholder 5">
            <a:extLst>
              <a:ext uri="{FF2B5EF4-FFF2-40B4-BE49-F238E27FC236}">
                <a16:creationId xmlns:a16="http://schemas.microsoft.com/office/drawing/2014/main" id="{57E89B82-9448-D70A-2D25-DB4A33CA7450}"/>
              </a:ext>
            </a:extLst>
          </p:cNvPr>
          <p:cNvSpPr>
            <a:spLocks noGrp="1"/>
          </p:cNvSpPr>
          <p:nvPr>
            <p:ph type="tbl" sz="quarter" idx="10"/>
          </p:nvPr>
        </p:nvSpPr>
        <p:spPr>
          <a:xfrm>
            <a:off x="1061243" y="1500745"/>
            <a:ext cx="10069513" cy="4010025"/>
          </a:xfrm>
        </p:spPr>
        <p:txBody>
          <a:bodyPr/>
          <a:lstStyle/>
          <a:p>
            <a:endParaRPr lang="en-US" dirty="0"/>
          </a:p>
        </p:txBody>
      </p:sp>
      <p:sp>
        <p:nvSpPr>
          <p:cNvPr id="10" name="Text Placeholder 8">
            <a:extLst>
              <a:ext uri="{FF2B5EF4-FFF2-40B4-BE49-F238E27FC236}">
                <a16:creationId xmlns:a16="http://schemas.microsoft.com/office/drawing/2014/main" id="{490E73F1-F338-E722-E17F-FDC88F6C1B94}"/>
              </a:ext>
            </a:extLst>
          </p:cNvPr>
          <p:cNvSpPr>
            <a:spLocks noGrp="1"/>
          </p:cNvSpPr>
          <p:nvPr>
            <p:ph type="body" sz="quarter" idx="11" hasCustomPrompt="1"/>
          </p:nvPr>
        </p:nvSpPr>
        <p:spPr>
          <a:xfrm>
            <a:off x="1061243" y="571500"/>
            <a:ext cx="5839574" cy="737700"/>
          </a:xfrm>
        </p:spPr>
        <p:txBody>
          <a:bodyPr>
            <a:noAutofit/>
          </a:bodyPr>
          <a:lstStyle>
            <a:lvl1pPr marL="9525" indent="-9525">
              <a:buNone/>
              <a:tabLst/>
              <a:defRPr sz="3200" b="1" i="0">
                <a:solidFill>
                  <a:srgbClr val="AB3D3F"/>
                </a:solidFill>
                <a:latin typeface="Poppins" pitchFamily="2" charset="77"/>
                <a:cs typeface="Poppins" pitchFamily="2" charset="77"/>
              </a:defRPr>
            </a:lvl1pPr>
            <a:lvl2pPr marL="9525" indent="-9525">
              <a:buNone/>
              <a:tabLst/>
              <a:defRPr>
                <a:solidFill>
                  <a:srgbClr val="FEBA5A"/>
                </a:solidFill>
              </a:defRPr>
            </a:lvl2pPr>
            <a:lvl3pPr marL="9525" indent="-9525">
              <a:buNone/>
              <a:tabLst/>
              <a:defRPr>
                <a:solidFill>
                  <a:srgbClr val="FEBA5A"/>
                </a:solidFill>
              </a:defRPr>
            </a:lvl3pPr>
            <a:lvl4pPr marL="9525" indent="-9525">
              <a:buNone/>
              <a:tabLst/>
              <a:defRPr>
                <a:solidFill>
                  <a:srgbClr val="FEBA5A"/>
                </a:solidFill>
              </a:defRPr>
            </a:lvl4pPr>
            <a:lvl5pPr marL="9525" indent="-9525">
              <a:buNone/>
              <a:tabLst/>
              <a:defRPr>
                <a:solidFill>
                  <a:srgbClr val="FEBA5A"/>
                </a:solidFill>
              </a:defRPr>
            </a:lvl5pPr>
          </a:lstStyle>
          <a:p>
            <a:pPr lvl="0"/>
            <a:r>
              <a:rPr lang="en-US" dirty="0"/>
              <a:t>Table Title Goes Here</a:t>
            </a:r>
          </a:p>
        </p:txBody>
      </p:sp>
      <p:pic>
        <p:nvPicPr>
          <p:cNvPr id="3" name="Picture 2" descr="A person standing in front of a black background&#10;&#10;AI-generated content may be incorrect.">
            <a:extLst>
              <a:ext uri="{FF2B5EF4-FFF2-40B4-BE49-F238E27FC236}">
                <a16:creationId xmlns:a16="http://schemas.microsoft.com/office/drawing/2014/main" id="{D9970793-154C-FF6F-4959-1A421E9730A8}"/>
              </a:ext>
            </a:extLst>
          </p:cNvPr>
          <p:cNvPicPr>
            <a:picLocks noChangeAspect="1"/>
          </p:cNvPicPr>
          <p:nvPr userDrawn="1"/>
        </p:nvPicPr>
        <p:blipFill>
          <a:blip r:embed="rId2"/>
          <a:stretch>
            <a:fillRect/>
          </a:stretch>
        </p:blipFill>
        <p:spPr>
          <a:xfrm>
            <a:off x="490019" y="5950781"/>
            <a:ext cx="1872037" cy="717198"/>
          </a:xfrm>
          <a:prstGeom prst="rect">
            <a:avLst/>
          </a:prstGeom>
        </p:spPr>
      </p:pic>
    </p:spTree>
    <p:extLst>
      <p:ext uri="{BB962C8B-B14F-4D97-AF65-F5344CB8AC3E}">
        <p14:creationId xmlns:p14="http://schemas.microsoft.com/office/powerpoint/2010/main" val="29062556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9902EB5-2D68-7C82-2B73-622445F073EF}"/>
              </a:ext>
            </a:extLst>
          </p:cNvPr>
          <p:cNvSpPr>
            <a:spLocks noGrp="1" noRot="1" noMove="1" noResize="1" noEditPoints="1" noAdjustHandles="1" noChangeArrowheads="1" noChangeShapeType="1"/>
          </p:cNvSpPr>
          <p:nvPr userDrawn="1"/>
        </p:nvSpPr>
        <p:spPr>
          <a:xfrm>
            <a:off x="0" y="0"/>
            <a:ext cx="12277618" cy="6858000"/>
          </a:xfrm>
          <a:prstGeom prst="rect">
            <a:avLst/>
          </a:prstGeom>
          <a:solidFill>
            <a:srgbClr val="AB3D3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BFBB8DB6-0644-6D85-CE40-32DB5FC89436}"/>
              </a:ext>
            </a:extLst>
          </p:cNvPr>
          <p:cNvSpPr>
            <a:spLocks noGrp="1"/>
          </p:cNvSpPr>
          <p:nvPr>
            <p:ph type="ctrTitle" hasCustomPrompt="1"/>
          </p:nvPr>
        </p:nvSpPr>
        <p:spPr>
          <a:xfrm>
            <a:off x="1524000" y="2567352"/>
            <a:ext cx="9144000" cy="2387600"/>
          </a:xfrm>
        </p:spPr>
        <p:txBody>
          <a:bodyPr anchor="ctr">
            <a:normAutofit/>
          </a:bodyPr>
          <a:lstStyle>
            <a:lvl1pPr algn="ctr">
              <a:defRPr sz="7200" b="1">
                <a:solidFill>
                  <a:schemeClr val="bg1"/>
                </a:solidFill>
                <a:latin typeface="Poppins" pitchFamily="2" charset="77"/>
                <a:cs typeface="Poppins" pitchFamily="2" charset="77"/>
              </a:defRPr>
            </a:lvl1pPr>
          </a:lstStyle>
          <a:p>
            <a:r>
              <a:rPr lang="en-US" dirty="0"/>
              <a:t>Thank You</a:t>
            </a:r>
          </a:p>
        </p:txBody>
      </p:sp>
      <p:pic>
        <p:nvPicPr>
          <p:cNvPr id="3" name="Picture 2" descr="A logo on a black background&#10;&#10;AI-generated content may be incorrect.">
            <a:extLst>
              <a:ext uri="{FF2B5EF4-FFF2-40B4-BE49-F238E27FC236}">
                <a16:creationId xmlns:a16="http://schemas.microsoft.com/office/drawing/2014/main" id="{B7D2CF73-6B55-FE59-781B-E23748870E77}"/>
              </a:ext>
            </a:extLst>
          </p:cNvPr>
          <p:cNvPicPr>
            <a:picLocks noChangeAspect="1"/>
          </p:cNvPicPr>
          <p:nvPr userDrawn="1"/>
        </p:nvPicPr>
        <p:blipFill>
          <a:blip r:embed="rId2"/>
          <a:stretch>
            <a:fillRect/>
          </a:stretch>
        </p:blipFill>
        <p:spPr>
          <a:xfrm>
            <a:off x="4998464" y="612116"/>
            <a:ext cx="2280690" cy="1763222"/>
          </a:xfrm>
          <a:prstGeom prst="rect">
            <a:avLst/>
          </a:prstGeom>
        </p:spPr>
      </p:pic>
    </p:spTree>
    <p:extLst>
      <p:ext uri="{BB962C8B-B14F-4D97-AF65-F5344CB8AC3E}">
        <p14:creationId xmlns:p14="http://schemas.microsoft.com/office/powerpoint/2010/main" val="8773219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05699-92A5-EB03-A586-D694772C26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40DCB07-5550-B2DC-9B59-357D44D12E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A1CA2F-0E68-75F8-D4DA-0DEA79DFB0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4B04F34-8FD2-3341-B014-12F06072F6DE}" type="datetimeFigureOut">
              <a:rPr lang="en-US" smtClean="0"/>
              <a:t>2/3/26</a:t>
            </a:fld>
            <a:endParaRPr lang="en-US"/>
          </a:p>
        </p:txBody>
      </p:sp>
      <p:sp>
        <p:nvSpPr>
          <p:cNvPr id="5" name="Footer Placeholder 4">
            <a:extLst>
              <a:ext uri="{FF2B5EF4-FFF2-40B4-BE49-F238E27FC236}">
                <a16:creationId xmlns:a16="http://schemas.microsoft.com/office/drawing/2014/main" id="{0A67ED29-C1D1-ECD5-F311-2A4049F520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61219D1-0A90-0688-51B4-795893344C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5815B29-94FF-B045-94DC-8D21B6115E05}" type="slidenum">
              <a:rPr lang="en-US" smtClean="0"/>
              <a:t>‹#›</a:t>
            </a:fld>
            <a:endParaRPr lang="en-US"/>
          </a:p>
        </p:txBody>
      </p:sp>
    </p:spTree>
    <p:extLst>
      <p:ext uri="{BB962C8B-B14F-4D97-AF65-F5344CB8AC3E}">
        <p14:creationId xmlns:p14="http://schemas.microsoft.com/office/powerpoint/2010/main" val="25740113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 id="2147483651" r:id="rId4"/>
    <p:sldLayoutId id="2147483652" r:id="rId5"/>
    <p:sldLayoutId id="2147483653" r:id="rId6"/>
    <p:sldLayoutId id="2147483656" r:id="rId7"/>
    <p:sldLayoutId id="2147483657" r:id="rId8"/>
    <p:sldLayoutId id="2147483655"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Where should 50,000 bed nets go?</a:t>
            </a:r>
          </a:p>
        </p:txBody>
      </p:sp>
      <p:sp>
        <p:nvSpPr>
          <p:cNvPr id="3" name="Subtitle 2"/>
          <p:cNvSpPr>
            <a:spLocks noGrp="1"/>
          </p:cNvSpPr>
          <p:nvPr>
            <p:ph type="subTitle" idx="1"/>
          </p:nvPr>
        </p:nvSpPr>
        <p:spPr/>
        <p:txBody>
          <a:bodyPr/>
          <a:lstStyle/>
          <a:p>
            <a:pPr algn="ctr">
              <a:spcAft>
                <a:spcPts val="1000"/>
              </a:spcAft>
            </a:pPr>
            <a:r>
              <a:rPr sz="2200" b="0" i="0">
                <a:solidFill>
                  <a:srgbClr val="FEBA5A"/>
                </a:solidFill>
                <a:latin typeface="Candara"/>
              </a:rPr>
              <a:t>Allocating bed nets across northern Ghana, with honest uncertainty</a:t>
            </a:r>
          </a:p>
          <a:p>
            <a:pPr algn="ctr">
              <a:spcAft>
                <a:spcPts val="400"/>
              </a:spcAft>
            </a:pPr>
            <a:r>
              <a:rPr sz="1800" b="0" i="0">
                <a:solidFill>
                  <a:srgbClr val="FFFFFF"/>
                </a:solidFill>
                <a:latin typeface="Candara"/>
              </a:rPr>
              <a:t>Advisory briefing for the National Malaria Elimination Programme</a:t>
            </a:r>
          </a:p>
          <a:p>
            <a:pPr algn="ctr">
              <a:spcAft>
                <a:spcPts val="600"/>
              </a:spcAft>
            </a:pPr>
            <a:r>
              <a:rPr sz="1600" b="0" i="0">
                <a:solidFill>
                  <a:srgbClr val="FFFFFF"/>
                </a:solidFill>
                <a:latin typeface="Candara"/>
              </a:rPr>
              <a:t>ICS553 Machine Learning Essentials · Group 3 · Ashesi University · September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recommendation</a:t>
            </a:r>
          </a:p>
        </p:txBody>
      </p:sp>
      <p:sp>
        <p:nvSpPr>
          <p:cNvPr id="3" name="TextBox 2"/>
          <p:cNvSpPr txBox="1"/>
          <p:nvPr/>
        </p:nvSpPr>
        <p:spPr>
          <a:xfrm>
            <a:off x="566928" y="1463040"/>
            <a:ext cx="11055096" cy="731520"/>
          </a:xfrm>
          <a:prstGeom prst="rect">
            <a:avLst/>
          </a:prstGeom>
          <a:noFill/>
        </p:spPr>
        <p:txBody>
          <a:bodyPr wrap="square" anchor="t" lIns="0" rIns="0" tIns="0" bIns="0">
            <a:spAutoFit/>
          </a:bodyPr>
          <a:lstStyle/>
          <a:p>
            <a:pPr algn="l">
              <a:spcAft>
                <a:spcPts val="600"/>
              </a:spcAft>
            </a:pPr>
            <a:r>
              <a:rPr sz="1800" b="0" i="0">
                <a:solidFill>
                  <a:srgbClr val="262626"/>
                </a:solidFill>
                <a:latin typeface="Candara"/>
              </a:rPr>
              <a:t>For a 50,000-net consignment to the three northern regions: </a:t>
            </a:r>
            <a:r>
              <a:rPr sz="1800" b="1" i="0">
                <a:solidFill>
                  <a:srgbClr val="262626"/>
                </a:solidFill>
                <a:latin typeface="Candara"/>
              </a:rPr>
              <a:t>allocate within each region in proportion to population</a:t>
            </a:r>
            <a:r>
              <a:rPr sz="1800" b="0" i="0">
                <a:solidFill>
                  <a:srgbClr val="262626"/>
                </a:solidFill>
                <a:latin typeface="Candara"/>
              </a:rPr>
              <a:t>, with regional totals from our negative binomial model.</a:t>
            </a:r>
          </a:p>
        </p:txBody>
      </p:sp>
      <p:sp>
        <p:nvSpPr>
          <p:cNvPr id="4" name="Rounded Rectangle 3"/>
          <p:cNvSpPr/>
          <p:nvPr/>
        </p:nvSpPr>
        <p:spPr>
          <a:xfrm>
            <a:off x="566928"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24,196</a:t>
            </a:r>
          </a:p>
          <a:p>
            <a:pPr algn="l">
              <a:spcAft>
                <a:spcPts val="400"/>
              </a:spcAft>
            </a:pPr>
            <a:r>
              <a:rPr sz="1700" b="1" i="0">
                <a:solidFill>
                  <a:srgbClr val="262626"/>
                </a:solidFill>
                <a:latin typeface="Candara"/>
              </a:rPr>
              <a:t>nets for Northern Region</a:t>
            </a:r>
          </a:p>
          <a:p>
            <a:pPr algn="l">
              <a:spcAft>
                <a:spcPts val="600"/>
              </a:spcAft>
            </a:pPr>
            <a:r>
              <a:rPr sz="1400" b="0" i="0">
                <a:solidFill>
                  <a:srgbClr val="595959"/>
                </a:solidFill>
                <a:latin typeface="Candara"/>
              </a:rPr>
              <a:t>26 districts · 8.5 nets per 1,000 people</a:t>
            </a:r>
          </a:p>
        </p:txBody>
      </p:sp>
      <p:sp>
        <p:nvSpPr>
          <p:cNvPr id="5" name="Rounded Rectangle 4"/>
          <p:cNvSpPr/>
          <p:nvPr/>
        </p:nvSpPr>
        <p:spPr>
          <a:xfrm>
            <a:off x="4343400"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18,631</a:t>
            </a:r>
          </a:p>
          <a:p>
            <a:pPr algn="l">
              <a:spcAft>
                <a:spcPts val="400"/>
              </a:spcAft>
            </a:pPr>
            <a:r>
              <a:rPr sz="1700" b="1" i="0">
                <a:solidFill>
                  <a:srgbClr val="262626"/>
                </a:solidFill>
                <a:latin typeface="Candara"/>
              </a:rPr>
              <a:t>nets for Upper East</a:t>
            </a:r>
          </a:p>
          <a:p>
            <a:pPr algn="l">
              <a:spcAft>
                <a:spcPts val="600"/>
              </a:spcAft>
            </a:pPr>
            <a:r>
              <a:rPr sz="1400" b="0" i="0">
                <a:solidFill>
                  <a:srgbClr val="595959"/>
                </a:solidFill>
                <a:latin typeface="Candara"/>
              </a:rPr>
              <a:t>13 districts · 16.0 nets per 1,000 people</a:t>
            </a:r>
          </a:p>
        </p:txBody>
      </p:sp>
      <p:sp>
        <p:nvSpPr>
          <p:cNvPr id="6" name="Rounded Rectangle 5"/>
          <p:cNvSpPr/>
          <p:nvPr/>
        </p:nvSpPr>
        <p:spPr>
          <a:xfrm>
            <a:off x="8119871" y="2423160"/>
            <a:ext cx="3502152"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200"/>
              </a:spcAft>
            </a:pPr>
            <a:r>
              <a:rPr sz="4600" b="1" i="0">
                <a:solidFill>
                  <a:srgbClr val="AB3D3F"/>
                </a:solidFill>
                <a:latin typeface="Candara"/>
              </a:rPr>
              <a:t>7,173</a:t>
            </a:r>
          </a:p>
          <a:p>
            <a:pPr algn="l">
              <a:spcAft>
                <a:spcPts val="400"/>
              </a:spcAft>
            </a:pPr>
            <a:r>
              <a:rPr sz="1700" b="1" i="0">
                <a:solidFill>
                  <a:srgbClr val="262626"/>
                </a:solidFill>
                <a:latin typeface="Candara"/>
              </a:rPr>
              <a:t>nets for Upper West</a:t>
            </a:r>
          </a:p>
          <a:p>
            <a:pPr algn="l">
              <a:spcAft>
                <a:spcPts val="600"/>
              </a:spcAft>
            </a:pPr>
            <a:r>
              <a:rPr sz="1400" b="0" i="0">
                <a:solidFill>
                  <a:srgbClr val="595959"/>
                </a:solidFill>
                <a:latin typeface="Candara"/>
              </a:rPr>
              <a:t>11 districts · 9.2 nets per 1,000 people</a:t>
            </a:r>
          </a:p>
        </p:txBody>
      </p:sp>
      <p:sp>
        <p:nvSpPr>
          <p:cNvPr id="7" name="TextBox 6"/>
          <p:cNvSpPr txBox="1"/>
          <p:nvPr/>
        </p:nvSpPr>
        <p:spPr>
          <a:xfrm>
            <a:off x="566928" y="4663440"/>
            <a:ext cx="11055096" cy="118872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Why population within a region: </a:t>
            </a:r>
            <a:r>
              <a:rPr sz="1500" b="0" i="0">
                <a:solidFill>
                  <a:srgbClr val="262626"/>
                </a:solidFill>
                <a:latin typeface="Candara"/>
              </a:rPr>
              <a:t>net coverage is measured once per region, so our data cannot tell two districts in the same region apart.</a:t>
            </a:r>
          </a:p>
          <a:p>
            <a:pPr algn="l">
              <a:spcAft>
                <a:spcPts val="600"/>
              </a:spcAft>
            </a:pPr>
            <a:r>
              <a:rPr sz="1500" b="1" i="0">
                <a:solidFill>
                  <a:srgbClr val="AB3D3F"/>
                </a:solidFill>
                <a:latin typeface="Candara"/>
              </a:rPr>
              <a:t>How sure we are: </a:t>
            </a:r>
            <a:r>
              <a:rPr sz="1500" b="0" i="0">
                <a:solidFill>
                  <a:srgbClr val="262626"/>
                </a:solidFill>
                <a:latin typeface="Candara"/>
              </a:rPr>
              <a:t>the shares within each region are robust. The regional totals are our base case: a better-fitting model moves 7,720 nets between regions (slide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Averages hide local risk</a:t>
            </a:r>
          </a:p>
        </p:txBody>
      </p:sp>
      <p:sp>
        <p:nvSpPr>
          <p:cNvPr id="3" name="Rounded Rectangle 2"/>
          <p:cNvSpPr/>
          <p:nvPr/>
        </p:nvSpPr>
        <p:spPr>
          <a:xfrm>
            <a:off x="566928"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2%</a:t>
            </a:r>
          </a:p>
          <a:p>
            <a:pPr algn="l">
              <a:spcAft>
                <a:spcPts val="400"/>
              </a:spcAft>
            </a:pPr>
            <a:r>
              <a:rPr sz="1800" b="1" i="0">
                <a:solidFill>
                  <a:srgbClr val="262626"/>
                </a:solidFill>
                <a:latin typeface="Candara"/>
              </a:rPr>
              <a:t>Greater Accra malaria prevalence, 2022 DHS</a:t>
            </a:r>
          </a:p>
          <a:p>
            <a:pPr algn="l">
              <a:spcAft>
                <a:spcPts val="600"/>
              </a:spcAft>
            </a:pPr>
            <a:r>
              <a:rPr sz="1400" b="0" i="0">
                <a:solidFill>
                  <a:srgbClr val="595959"/>
                </a:solidFill>
                <a:latin typeface="Candara"/>
              </a:rPr>
              <a:t>Children 6 to 59 months, microscopy</a:t>
            </a:r>
          </a:p>
        </p:txBody>
      </p:sp>
      <p:sp>
        <p:nvSpPr>
          <p:cNvPr id="4" name="Rounded Rectangle 3"/>
          <p:cNvSpPr/>
          <p:nvPr/>
        </p:nvSpPr>
        <p:spPr>
          <a:xfrm>
            <a:off x="6227064" y="1554480"/>
            <a:ext cx="5394960" cy="27432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219456" bIns="219456"/>
          <a:lstStyle/>
          <a:p>
            <a:pPr algn="l">
              <a:spcAft>
                <a:spcPts val="400"/>
              </a:spcAft>
            </a:pPr>
            <a:r>
              <a:rPr sz="6600" b="1" i="0">
                <a:solidFill>
                  <a:srgbClr val="AB3D3F"/>
                </a:solidFill>
                <a:latin typeface="Candara"/>
              </a:rPr>
              <a:t>0 to 49%</a:t>
            </a:r>
          </a:p>
          <a:p>
            <a:pPr algn="l">
              <a:spcAft>
                <a:spcPts val="400"/>
              </a:spcAft>
            </a:pPr>
            <a:r>
              <a:rPr sz="1800" b="1" i="0">
                <a:solidFill>
                  <a:srgbClr val="262626"/>
                </a:solidFill>
                <a:latin typeface="Candara"/>
              </a:rPr>
              <a:t>Predicted prevalence across all 29 Greater Accra districts</a:t>
            </a:r>
          </a:p>
          <a:p>
            <a:pPr algn="l">
              <a:spcAft>
                <a:spcPts val="600"/>
              </a:spcAft>
            </a:pPr>
            <a:r>
              <a:rPr sz="1400" b="0" i="0">
                <a:solidFill>
                  <a:srgbClr val="595959"/>
                </a:solidFill>
                <a:latin typeface="Candara"/>
              </a:rPr>
              <a:t>2020 household survey and geostatistical model, children 6 months to 10 years, rapid tests</a:t>
            </a:r>
          </a:p>
        </p:txBody>
      </p:sp>
      <p:sp>
        <p:nvSpPr>
          <p:cNvPr id="5" name="TextBox 4"/>
          <p:cNvSpPr txBox="1"/>
          <p:nvPr/>
        </p:nvSpPr>
        <p:spPr>
          <a:xfrm>
            <a:off x="566928" y="4709160"/>
            <a:ext cx="11055096" cy="1005840"/>
          </a:xfrm>
          <a:prstGeom prst="rect">
            <a:avLst/>
          </a:prstGeom>
          <a:noFill/>
        </p:spPr>
        <p:txBody>
          <a:bodyPr wrap="square" anchor="t" lIns="0" rIns="0" tIns="0" bIns="0">
            <a:spAutoFit/>
          </a:bodyPr>
          <a:lstStyle/>
          <a:p>
            <a:pPr algn="l">
              <a:spcAft>
                <a:spcPts val="600"/>
              </a:spcAft>
            </a:pPr>
            <a:r>
              <a:rPr sz="1600" b="0" i="0">
                <a:solidFill>
                  <a:srgbClr val="262626"/>
                </a:solidFill>
                <a:latin typeface="Candara"/>
              </a:rPr>
              <a:t>Different ages and tests, so this is not like for like. The point is the spread: one regional figure can hide districts at very high risk. That is why we wanted district-level targeting; the next slide shows how far our data allow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Our data, and where it is thin</a:t>
            </a:r>
          </a:p>
        </p:txBody>
      </p:sp>
      <p:pic>
        <p:nvPicPr>
          <p:cNvPr id="3" name="Picture 2" descr="b1_data_availability.png"/>
          <p:cNvPicPr>
            <a:picLocks noChangeAspect="1"/>
          </p:cNvPicPr>
          <p:nvPr/>
        </p:nvPicPr>
        <p:blipFill>
          <a:blip r:embed="rId2"/>
          <a:stretch>
            <a:fillRect/>
          </a:stretch>
        </p:blipFill>
        <p:spPr>
          <a:xfrm>
            <a:off x="736279" y="1417320"/>
            <a:ext cx="2907416" cy="3611880"/>
          </a:xfrm>
          <a:prstGeom prst="rect">
            <a:avLst/>
          </a:prstGeom>
        </p:spPr>
      </p:pic>
      <p:pic>
        <p:nvPicPr>
          <p:cNvPr id="4" name="Picture 3" descr="b1_district_case_rate.png"/>
          <p:cNvPicPr>
            <a:picLocks noChangeAspect="1"/>
          </p:cNvPicPr>
          <p:nvPr/>
        </p:nvPicPr>
        <p:blipFill>
          <a:blip r:embed="rId3"/>
          <a:stretch>
            <a:fillRect/>
          </a:stretch>
        </p:blipFill>
        <p:spPr>
          <a:xfrm>
            <a:off x="4341671" y="1417320"/>
            <a:ext cx="2646072" cy="3611880"/>
          </a:xfrm>
          <a:prstGeom prst="rect">
            <a:avLst/>
          </a:prstGeom>
        </p:spPr>
      </p:pic>
      <p:sp>
        <p:nvSpPr>
          <p:cNvPr id="5" name="TextBox 4"/>
          <p:cNvSpPr txBox="1"/>
          <p:nvPr/>
        </p:nvSpPr>
        <p:spPr>
          <a:xfrm>
            <a:off x="56692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Household survey, DHS 2022. </a:t>
            </a:r>
            <a:r>
              <a:rPr sz="1200" b="0" i="0">
                <a:solidFill>
                  <a:srgbClr val="262626"/>
                </a:solidFill>
                <a:latin typeface="Candara"/>
              </a:rPr>
              <a:t>17,933 households in 618 clusters, all 16 regions; no district identifier.</a:t>
            </a:r>
          </a:p>
        </p:txBody>
      </p:sp>
      <p:sp>
        <p:nvSpPr>
          <p:cNvPr id="6" name="TextBox 5"/>
          <p:cNvSpPr txBox="1"/>
          <p:nvPr/>
        </p:nvSpPr>
        <p:spPr>
          <a:xfrm>
            <a:off x="4041648" y="5120640"/>
            <a:ext cx="3246120" cy="73152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Routine surveillance, 2014-17. </a:t>
            </a:r>
            <a:r>
              <a:rPr sz="1200" b="0" i="0">
                <a:solidFill>
                  <a:srgbClr val="262626"/>
                </a:solidFill>
                <a:latin typeface="Candara"/>
              </a:rPr>
              <a:t>Cases for 50 northern districts only; 207 of today's 260 districts have none in our data.</a:t>
            </a:r>
          </a:p>
        </p:txBody>
      </p:sp>
      <p:sp>
        <p:nvSpPr>
          <p:cNvPr id="7" name="Rounded Rectangle 6"/>
          <p:cNvSpPr/>
          <p:nvPr/>
        </p:nvSpPr>
        <p:spPr>
          <a:xfrm>
            <a:off x="7635240" y="1417320"/>
            <a:ext cx="3986784" cy="4343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What this means</a:t>
            </a:r>
          </a:p>
          <a:p>
            <a:pPr algn="l" marL="219456" indent="-219456">
              <a:spcAft>
                <a:spcPts val="800"/>
              </a:spcAft>
              <a:buClr>
                <a:srgbClr val="AB3D3F"/>
              </a:buClr>
              <a:buFont typeface="Arial"/>
              <a:buChar char="•"/>
            </a:pPr>
            <a:r>
              <a:rPr sz="1500" b="1" i="0">
                <a:solidFill>
                  <a:srgbClr val="262626"/>
                </a:solidFill>
                <a:latin typeface="Candara"/>
              </a:rPr>
              <a:t>Weights matter. </a:t>
            </a:r>
            <a:r>
              <a:rPr sz="1500" b="0" i="0">
                <a:solidFill>
                  <a:srgbClr val="262626"/>
                </a:solidFill>
                <a:latin typeface="Candara"/>
              </a:rPr>
              <a:t>Unweighted, 71.0% of households own a net; weighted, 66.8%.</a:t>
            </a:r>
          </a:p>
          <a:p>
            <a:pPr algn="l" marL="219456" indent="-219456">
              <a:spcAft>
                <a:spcPts val="800"/>
              </a:spcAft>
              <a:buClr>
                <a:srgbClr val="AB3D3F"/>
              </a:buClr>
              <a:buFont typeface="Arial"/>
              <a:buChar char="•"/>
            </a:pPr>
            <a:r>
              <a:rPr sz="1500" b="1" i="0">
                <a:solidFill>
                  <a:srgbClr val="262626"/>
                </a:solidFill>
                <a:latin typeface="Candara"/>
              </a:rPr>
              <a:t>Different years. </a:t>
            </a:r>
            <a:r>
              <a:rPr sz="1500" b="0" i="0">
                <a:solidFill>
                  <a:srgbClr val="262626"/>
                </a:solidFill>
                <a:latin typeface="Candara"/>
              </a:rPr>
              <a:t>Net coverage is from 2022; cases are from 2014-17.</a:t>
            </a:r>
          </a:p>
          <a:p>
            <a:pPr algn="l" marL="219456" indent="-219456">
              <a:spcAft>
                <a:spcPts val="800"/>
              </a:spcAft>
              <a:buClr>
                <a:srgbClr val="AB3D3F"/>
              </a:buClr>
              <a:buFont typeface="Arial"/>
              <a:buChar char="•"/>
            </a:pPr>
            <a:r>
              <a:rPr sz="1500" b="1" i="0">
                <a:solidFill>
                  <a:srgbClr val="262626"/>
                </a:solidFill>
                <a:latin typeface="Candara"/>
              </a:rPr>
              <a:t>Coarse coverage. </a:t>
            </a:r>
            <a:r>
              <a:rPr sz="1500" b="0" i="0">
                <a:solidFill>
                  <a:srgbClr val="262626"/>
                </a:solidFill>
                <a:latin typeface="Candara"/>
              </a:rPr>
              <a:t>Coverage is known only by region: three values for 50 districts.</a:t>
            </a:r>
          </a:p>
          <a:p>
            <a:pPr algn="l" marL="219456" indent="-219456">
              <a:spcAft>
                <a:spcPts val="1200"/>
              </a:spcAft>
              <a:buClr>
                <a:srgbClr val="AB3D3F"/>
              </a:buClr>
              <a:buFont typeface="Arial"/>
              <a:buChar char="•"/>
            </a:pPr>
            <a:r>
              <a:rPr sz="1500" b="1" i="0">
                <a:solidFill>
                  <a:srgbClr val="262626"/>
                </a:solidFill>
                <a:latin typeface="Candara"/>
              </a:rPr>
              <a:t>No district survey data. </a:t>
            </a:r>
            <a:r>
              <a:rPr sz="1500" b="0" i="0">
                <a:solidFill>
                  <a:srgbClr val="262626"/>
                </a:solidFill>
                <a:latin typeface="Candara"/>
              </a:rPr>
              <a:t>The survey can rank regions, not districts.</a:t>
            </a:r>
          </a:p>
          <a:p>
            <a:pPr algn="l">
              <a:spcAft>
                <a:spcPts val="600"/>
              </a:spcAft>
            </a:pPr>
            <a:r>
              <a:rPr sz="1500" b="1" i="0">
                <a:solidFill>
                  <a:srgbClr val="AB3D3F"/>
                </a:solidFill>
                <a:latin typeface="Candara"/>
              </a:rPr>
              <a:t>So: </a:t>
            </a:r>
            <a:r>
              <a:rPr sz="1500" b="0" i="0">
                <a:solidFill>
                  <a:srgbClr val="262626"/>
                </a:solidFill>
                <a:latin typeface="Candara"/>
              </a:rPr>
              <a:t>our rule, expected cases × the share of households without a net, can separate regions but not districts within a region.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Case counts vary far more than Poisson allows</a:t>
            </a:r>
          </a:p>
        </p:txBody>
      </p:sp>
      <p:sp>
        <p:nvSpPr>
          <p:cNvPr id="3" name="TextBox 2"/>
          <p:cNvSpPr txBox="1"/>
          <p:nvPr/>
        </p:nvSpPr>
        <p:spPr>
          <a:xfrm>
            <a:off x="566928" y="1463040"/>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77,183</a:t>
            </a:r>
          </a:p>
          <a:p>
            <a:pPr algn="l">
              <a:spcAft>
                <a:spcPts val="600"/>
              </a:spcAft>
            </a:pPr>
            <a:r>
              <a:rPr sz="1300" b="0" i="0">
                <a:solidFill>
                  <a:srgbClr val="262626"/>
                </a:solidFill>
                <a:latin typeface="Candara"/>
              </a:rPr>
              <a:t>variance-to-mean ratio of district case counts; a Poisson model requires 1</a:t>
            </a:r>
          </a:p>
        </p:txBody>
      </p:sp>
      <p:sp>
        <p:nvSpPr>
          <p:cNvPr id="4" name="TextBox 3"/>
          <p:cNvSpPr txBox="1"/>
          <p:nvPr/>
        </p:nvSpPr>
        <p:spPr>
          <a:xfrm>
            <a:off x="566928" y="2487168"/>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442 vs 122,882</a:t>
            </a:r>
          </a:p>
          <a:p>
            <a:pPr algn="l">
              <a:spcAft>
                <a:spcPts val="600"/>
              </a:spcAft>
            </a:pPr>
            <a:r>
              <a:rPr sz="1300" b="0" i="0">
                <a:solidFill>
                  <a:srgbClr val="262626"/>
                </a:solidFill>
                <a:latin typeface="Candara"/>
              </a:rPr>
              <a:t>spread a Poisson implies (standard deviation) against what we observe: 278 times too narrow</a:t>
            </a:r>
          </a:p>
        </p:txBody>
      </p:sp>
      <p:sp>
        <p:nvSpPr>
          <p:cNvPr id="5" name="TextBox 4"/>
          <p:cNvSpPr txBox="1"/>
          <p:nvPr/>
        </p:nvSpPr>
        <p:spPr>
          <a:xfrm>
            <a:off x="566928" y="3511296"/>
            <a:ext cx="4754880" cy="960120"/>
          </a:xfrm>
          <a:prstGeom prst="rect">
            <a:avLst/>
          </a:prstGeom>
          <a:noFill/>
        </p:spPr>
        <p:txBody>
          <a:bodyPr wrap="square" anchor="t" lIns="0" rIns="0" tIns="0" bIns="0">
            <a:spAutoFit/>
          </a:bodyPr>
          <a:lstStyle/>
          <a:p>
            <a:pPr algn="l">
              <a:spcAft>
                <a:spcPts val="0"/>
              </a:spcAft>
            </a:pPr>
            <a:r>
              <a:rPr sz="3000" b="1" i="0">
                <a:solidFill>
                  <a:srgbClr val="AB3D3F"/>
                </a:solidFill>
                <a:latin typeface="Candara"/>
              </a:rPr>
              <a:t>54,147</a:t>
            </a:r>
          </a:p>
          <a:p>
            <a:pPr algn="l">
              <a:spcAft>
                <a:spcPts val="600"/>
              </a:spcAft>
            </a:pPr>
            <a:r>
              <a:rPr sz="1300" b="0" i="0">
                <a:solidFill>
                  <a:srgbClr val="262626"/>
                </a:solidFill>
                <a:latin typeface="Candara"/>
              </a:rPr>
              <a:t>dispersion left after adjusting for population (Pearson chi-square per degree of freedom)</a:t>
            </a:r>
          </a:p>
        </p:txBody>
      </p:sp>
      <p:sp>
        <p:nvSpPr>
          <p:cNvPr id="6" name="Rounded Rectangle 5"/>
          <p:cNvSpPr/>
          <p:nvPr/>
        </p:nvSpPr>
        <p:spPr>
          <a:xfrm>
            <a:off x="566928" y="4617720"/>
            <a:ext cx="4754880" cy="109728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0934" bIns="160934"/>
          <a:lstStyle/>
          <a:p>
            <a:pPr algn="l">
              <a:spcAft>
                <a:spcPts val="600"/>
              </a:spcAft>
            </a:pPr>
            <a:r>
              <a:rPr sz="1400" b="1" i="0">
                <a:solidFill>
                  <a:srgbClr val="AB3D3F"/>
                </a:solidFill>
                <a:latin typeface="Candara"/>
              </a:rPr>
              <a:t>Working model: negative binomial. </a:t>
            </a:r>
            <a:r>
              <a:rPr sz="1400" b="0" i="0">
                <a:solidFill>
                  <a:srgbClr val="262626"/>
                </a:solidFill>
                <a:latin typeface="Candara"/>
              </a:rPr>
              <a:t>Dispersion α = 0.268 with a population offset; it beats Poisson by 2.39 million AIC points.</a:t>
            </a:r>
          </a:p>
        </p:txBody>
      </p:sp>
      <p:pic>
        <p:nvPicPr>
          <p:cNvPr id="7" name="Picture 6" descr="a3_poisson_vs_nb.png"/>
          <p:cNvPicPr>
            <a:picLocks noChangeAspect="1"/>
          </p:cNvPicPr>
          <p:nvPr/>
        </p:nvPicPr>
        <p:blipFill>
          <a:blip r:embed="rId2"/>
          <a:stretch>
            <a:fillRect/>
          </a:stretch>
        </p:blipFill>
        <p:spPr>
          <a:xfrm>
            <a:off x="5669280" y="1575586"/>
            <a:ext cx="5943600" cy="3478227"/>
          </a:xfrm>
          <a:prstGeom prst="rect">
            <a:avLst/>
          </a:prstGeom>
        </p:spPr>
      </p:pic>
      <p:sp>
        <p:nvSpPr>
          <p:cNvPr id="8" name="TextBox 7"/>
          <p:cNvSpPr txBox="1"/>
          <p:nvPr/>
        </p:nvSpPr>
        <p:spPr>
          <a:xfrm>
            <a:off x="5669280" y="5303520"/>
            <a:ext cx="5943600" cy="4572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50 districts, 2014-17. Curves fitted without covariates, so the negative binomial here uses α = 0.395.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Survey intervals must respect clustering</a:t>
            </a:r>
          </a:p>
        </p:txBody>
      </p:sp>
      <p:sp>
        <p:nvSpPr>
          <p:cNvPr id="3" name="TextBox 2"/>
          <p:cNvSpPr txBox="1"/>
          <p:nvPr/>
        </p:nvSpPr>
        <p:spPr>
          <a:xfrm>
            <a:off x="566928" y="1463040"/>
            <a:ext cx="5120640" cy="4343400"/>
          </a:xfrm>
          <a:prstGeom prst="rect">
            <a:avLst/>
          </a:prstGeom>
          <a:noFill/>
        </p:spPr>
        <p:txBody>
          <a:bodyPr wrap="square" anchor="t" lIns="0" rIns="0" tIns="0" bIns="0">
            <a:spAutoFit/>
          </a:bodyPr>
          <a:lstStyle/>
          <a:p>
            <a:pPr algn="l">
              <a:spcAft>
                <a:spcPts val="1200"/>
              </a:spcAft>
            </a:pPr>
            <a:r>
              <a:rPr sz="1400" b="0" i="0">
                <a:solidFill>
                  <a:srgbClr val="262626"/>
                </a:solidFill>
                <a:latin typeface="Candara"/>
              </a:rPr>
              <a:t>Households in one cluster share a village, water sources and the last net campaign, so they are not independent.</a:t>
            </a:r>
          </a:p>
          <a:p>
            <a:pPr algn="l">
              <a:spcAft>
                <a:spcPts val="200"/>
              </a:spcAft>
            </a:pPr>
            <a:r>
              <a:rPr sz="2200" b="1" i="0">
                <a:solidFill>
                  <a:srgbClr val="AB3D3F"/>
                </a:solidFill>
                <a:latin typeface="Candara"/>
              </a:rPr>
              <a:t>15.2 vs 7.2 points</a:t>
            </a:r>
          </a:p>
          <a:p>
            <a:pPr algn="l">
              <a:spcAft>
                <a:spcPts val="1200"/>
              </a:spcAft>
            </a:pPr>
            <a:r>
              <a:rPr sz="1400" b="0" i="0">
                <a:solidFill>
                  <a:srgbClr val="262626"/>
                </a:solidFill>
                <a:latin typeface="Candara"/>
              </a:rPr>
              <a:t>Width of the 95% interval for rural Northern net ownership (76.0%): cluster bootstrap against a naive household bootstrap. The honest interval is 2.1 times wider.</a:t>
            </a:r>
          </a:p>
          <a:p>
            <a:pPr algn="l">
              <a:spcAft>
                <a:spcPts val="200"/>
              </a:spcAft>
            </a:pPr>
            <a:r>
              <a:rPr sz="2200" b="1" i="0">
                <a:solidFill>
                  <a:srgbClr val="AB3D3F"/>
                </a:solidFill>
                <a:latin typeface="Candara"/>
              </a:rPr>
              <a:t>Design effect about 4.5</a:t>
            </a:r>
          </a:p>
          <a:p>
            <a:pPr algn="l">
              <a:spcAft>
                <a:spcPts val="1200"/>
              </a:spcAft>
            </a:pPr>
            <a:r>
              <a:rPr sz="1400" b="0" i="0">
                <a:solidFill>
                  <a:srgbClr val="262626"/>
                </a:solidFill>
                <a:latin typeface="Candara"/>
              </a:rPr>
              <a:t>The survey holds the information of a simple random sample about a quarter its size (4.5 to 5.4 across seeds; 4.2 by a design-based formula).</a:t>
            </a:r>
          </a:p>
          <a:p>
            <a:pPr algn="l">
              <a:spcAft>
                <a:spcPts val="200"/>
              </a:spcAft>
            </a:pPr>
            <a:r>
              <a:rPr sz="2200" b="1" i="0">
                <a:solidFill>
                  <a:srgbClr val="AB3D3F"/>
                </a:solidFill>
                <a:latin typeface="Candara"/>
              </a:rPr>
              <a:t>0.09 points</a:t>
            </a:r>
          </a:p>
          <a:p>
            <a:pPr algn="l">
              <a:spcAft>
                <a:spcPts val="600"/>
              </a:spcAft>
            </a:pPr>
            <a:r>
              <a:rPr sz="1400" b="0" i="0">
                <a:solidFill>
                  <a:srgbClr val="262626"/>
                </a:solidFill>
                <a:latin typeface="Candara"/>
              </a:rPr>
              <a:t>Our weighted estimate for Northern Region against the published DHS figure (67.69% vs 67.60%). This checks our weighting, not our interval: the published ITN intervals are empty.</a:t>
            </a:r>
          </a:p>
        </p:txBody>
      </p:sp>
      <p:pic>
        <p:nvPicPr>
          <p:cNvPr id="4" name="Picture 3" descr="a4_bootstrap_ci_comparison.png"/>
          <p:cNvPicPr>
            <a:picLocks noChangeAspect="1"/>
          </p:cNvPicPr>
          <p:nvPr/>
        </p:nvPicPr>
        <p:blipFill>
          <a:blip r:embed="rId2"/>
          <a:stretch>
            <a:fillRect/>
          </a:stretch>
        </p:blipFill>
        <p:spPr>
          <a:xfrm>
            <a:off x="5943600" y="1952582"/>
            <a:ext cx="5669280" cy="2404194"/>
          </a:xfrm>
          <a:prstGeom prst="rect">
            <a:avLst/>
          </a:prstGeom>
        </p:spPr>
      </p:pic>
      <p:sp>
        <p:nvSpPr>
          <p:cNvPr id="5" name="TextBox 4"/>
          <p:cNvSpPr txBox="1"/>
          <p:nvPr/>
        </p:nvSpPr>
        <p:spPr>
          <a:xfrm>
            <a:off x="5943600" y="4754880"/>
            <a:ext cx="5669280" cy="91440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Rural Northern Region: 582 households in 20 clusters, 2,000 replicates, seed 42. Chosen for its link to our districts; it ranks 10th of 16 regions by rural clusters, so it is not the most under-sampled.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rPr sz="3000"/>
              <a:t>Leakage audit: what held up, and what did not</a:t>
            </a:r>
          </a:p>
        </p:txBody>
      </p:sp>
      <p:graphicFrame>
        <p:nvGraphicFramePr>
          <p:cNvPr id="4" name="Table 3"/>
          <p:cNvGraphicFramePr>
            <a:graphicFrameLocks noGrp="1"/>
          </p:cNvGraphicFramePr>
          <p:nvPr/>
        </p:nvGraphicFramePr>
        <p:xfrm>
          <a:off x="1060704" y="1463040"/>
          <a:ext cx="10067544" cy="3794760"/>
        </p:xfrm>
        <a:graphic>
          <a:graphicData uri="http://schemas.openxmlformats.org/drawingml/2006/table">
            <a:tbl>
              <a:tblPr firstRow="1">
                <a:tableStyleId>{5C22544A-7EE6-4342-B048-85BDC9FD1C3A}</a:tableStyleId>
              </a:tblPr>
              <a:tblGrid>
                <a:gridCol w="1600200"/>
                <a:gridCol w="2606040"/>
                <a:gridCol w="2606040"/>
                <a:gridCol w="3255264"/>
              </a:tblGrid>
              <a:tr h="411480">
                <a:tc>
                  <a:txBody>
                    <a:bodyPr/>
                    <a:lstStyle/>
                    <a:p>
                      <a:pPr algn="l">
                        <a:spcAft>
                          <a:spcPts val="0"/>
                        </a:spcAft>
                      </a:pPr>
                      <a:r>
                        <a:rPr sz="1300" b="1" i="0">
                          <a:solidFill>
                            <a:srgbClr val="FFFFFF"/>
                          </a:solidFill>
                          <a:latin typeface="Candara"/>
                        </a:rPr>
                        <a:t>Leak</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Broken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Disciplined version</a:t>
                      </a:r>
                    </a:p>
                  </a:txBody>
                  <a:tcPr marL="91440" marR="91440" marT="36576" marB="36576" anchor="ctr">
                    <a:solidFill>
                      <a:srgbClr val="AB3D3F"/>
                    </a:solidFill>
                  </a:tcPr>
                </a:tc>
                <a:tc>
                  <a:txBody>
                    <a:bodyPr/>
                    <a:lstStyle/>
                    <a:p>
                      <a:pPr algn="l">
                        <a:spcAft>
                          <a:spcPts val="0"/>
                        </a:spcAft>
                      </a:pPr>
                      <a:r>
                        <a:rPr sz="1300" b="1" i="0">
                          <a:solidFill>
                            <a:srgbClr val="FFFFFF"/>
                          </a:solidFill>
                          <a:latin typeface="Candara"/>
                        </a:rPr>
                        <a:t>What we found</a:t>
                      </a:r>
                    </a:p>
                  </a:txBody>
                  <a:tcPr marL="91440" marR="91440" marT="36576" marB="36576" anchor="ctr">
                    <a:solidFill>
                      <a:srgbClr val="AB3D3F"/>
                    </a:solidFill>
                  </a:tcPr>
                </a:tc>
              </a:tr>
              <a:tr h="914400">
                <a:tc>
                  <a:txBody>
                    <a:bodyPr/>
                    <a:lstStyle/>
                    <a:p>
                      <a:pPr algn="l">
                        <a:spcAft>
                          <a:spcPts val="0"/>
                        </a:spcAft>
                      </a:pPr>
                      <a:r>
                        <a:rPr sz="1200" b="1" i="0">
                          <a:solidFill>
                            <a:srgbClr val="262626"/>
                          </a:solidFill>
                          <a:latin typeface="Candara"/>
                        </a:rPr>
                        <a:t>Preprocessing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on all 50 districts before splitting</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Scaler fitted inside a Pipeline, on training districts only</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Real mechanism, negligible here: 212 cases at seed 42, 44 on average over 500 seeds</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Target encoding</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Each district encoded with its own case count</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Only features that do not use the outcome</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Test R² of 1.00 against 0.26: the feature is the answer</a:t>
                      </a:r>
                    </a:p>
                  </a:txBody>
                  <a:tcPr marL="91440" marR="91440" marT="36576" marB="36576" anchor="ctr">
                    <a:solidFill>
                      <a:srgbClr val="F3F3F3"/>
                    </a:solidFill>
                  </a:tcPr>
                </a:tc>
              </a:tr>
              <a:tr h="914400">
                <a:tc>
                  <a:txBody>
                    <a:bodyPr/>
                    <a:lstStyle/>
                    <a:p>
                      <a:pPr algn="l">
                        <a:spcAft>
                          <a:spcPts val="0"/>
                        </a:spcAft>
                      </a:pPr>
                      <a:r>
                        <a:rPr sz="1200" b="1" i="0">
                          <a:solidFill>
                            <a:srgbClr val="262626"/>
                          </a:solidFill>
                          <a:latin typeface="Candara"/>
                        </a:rPr>
                        <a:t>Spatial</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split, or random split stratified by region</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Whole region held out</a:t>
                      </a:r>
                    </a:p>
                  </a:txBody>
                  <a:tcPr marL="91440" marR="91440" marT="36576" marB="36576" anchor="ctr">
                    <a:solidFill>
                      <a:srgbClr val="FFFFFF"/>
                    </a:solidFill>
                  </a:tcPr>
                </a:tc>
                <a:tc>
                  <a:txBody>
                    <a:bodyPr/>
                    <a:lstStyle/>
                    <a:p>
                      <a:pPr algn="l">
                        <a:spcAft>
                          <a:spcPts val="0"/>
                        </a:spcAft>
                      </a:pPr>
                      <a:r>
                        <a:rPr sz="1200" b="0" i="0">
                          <a:solidFill>
                            <a:srgbClr val="262626"/>
                          </a:solidFill>
                          <a:latin typeface="Candara"/>
                        </a:rPr>
                        <a:t>Random and stratified splits agree (about 90,000); a held-out region gives 365,128</a:t>
                      </a:r>
                    </a:p>
                  </a:txBody>
                  <a:tcPr marL="91440" marR="91440" marT="36576" marB="36576" anchor="ctr">
                    <a:solidFill>
                      <a:srgbClr val="FFFFFF"/>
                    </a:solidFill>
                  </a:tcPr>
                </a:tc>
              </a:tr>
              <a:tr h="777240">
                <a:tc>
                  <a:txBody>
                    <a:bodyPr/>
                    <a:lstStyle/>
                    <a:p>
                      <a:pPr algn="l">
                        <a:spcAft>
                          <a:spcPts val="0"/>
                        </a:spcAft>
                      </a:pPr>
                      <a:r>
                        <a:rPr sz="1200" b="1" i="0">
                          <a:solidFill>
                            <a:srgbClr val="262626"/>
                          </a:solidFill>
                          <a:latin typeface="Candara"/>
                        </a:rPr>
                        <a:t>Temporal</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2022 coverage used to explain 2014-17 cases</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Documented; not read causally</a:t>
                      </a:r>
                    </a:p>
                  </a:txBody>
                  <a:tcPr marL="91440" marR="91440" marT="36576" marB="36576" anchor="ctr">
                    <a:solidFill>
                      <a:srgbClr val="F3F3F3"/>
                    </a:solidFill>
                  </a:tcPr>
                </a:tc>
                <a:tc>
                  <a:txBody>
                    <a:bodyPr/>
                    <a:lstStyle/>
                    <a:p>
                      <a:pPr algn="l">
                        <a:spcAft>
                          <a:spcPts val="0"/>
                        </a:spcAft>
                      </a:pPr>
                      <a:r>
                        <a:rPr sz="1200" b="0" i="0">
                          <a:solidFill>
                            <a:srgbClr val="262626"/>
                          </a:solidFill>
                          <a:latin typeface="Candara"/>
                        </a:rPr>
                        <a:t>The coverage coefficient reflects region, not the effect of nets</a:t>
                      </a:r>
                    </a:p>
                  </a:txBody>
                  <a:tcPr marL="91440" marR="91440" marT="36576" marB="36576" anchor="ctr">
                    <a:solidFill>
                      <a:srgbClr val="F3F3F3"/>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Only a held-out region tests new geography</a:t>
            </a:r>
          </a:p>
        </p:txBody>
      </p:sp>
      <p:sp>
        <p:nvSpPr>
          <p:cNvPr id="3" name="TextBox 2"/>
          <p:cNvSpPr txBox="1"/>
          <p:nvPr/>
        </p:nvSpPr>
        <p:spPr>
          <a:xfrm>
            <a:off x="566928" y="1554480"/>
            <a:ext cx="4754880" cy="4114800"/>
          </a:xfrm>
          <a:prstGeom prst="rect">
            <a:avLst/>
          </a:prstGeom>
          <a:noFill/>
        </p:spPr>
        <p:txBody>
          <a:bodyPr wrap="square" anchor="t" lIns="0" rIns="0" tIns="0" bIns="0">
            <a:spAutoFit/>
          </a:bodyPr>
          <a:lstStyle/>
          <a:p>
            <a:pPr algn="l" marL="219456" indent="-219456">
              <a:spcAft>
                <a:spcPts val="1200"/>
              </a:spcAft>
              <a:buClr>
                <a:srgbClr val="AB3D3F"/>
              </a:buClr>
              <a:buFont typeface="Arial"/>
              <a:buChar char="•"/>
            </a:pPr>
            <a:r>
              <a:rPr sz="1600" b="0" i="0">
                <a:solidFill>
                  <a:srgbClr val="262626"/>
                </a:solidFill>
                <a:latin typeface="Candara"/>
              </a:rPr>
              <a:t>A split stratified by region still puts each test district's neighbours in the training set.</a:t>
            </a:r>
          </a:p>
          <a:p>
            <a:pPr algn="l" marL="219456" indent="-219456">
              <a:spcAft>
                <a:spcPts val="1200"/>
              </a:spcAft>
              <a:buClr>
                <a:srgbClr val="AB3D3F"/>
              </a:buClr>
              <a:buFont typeface="Arial"/>
              <a:buChar char="•"/>
            </a:pPr>
            <a:r>
              <a:rPr sz="1600" b="0" i="0">
                <a:solidFill>
                  <a:srgbClr val="262626"/>
                </a:solidFill>
                <a:latin typeface="Candara"/>
              </a:rPr>
              <a:t>Across 500 random seeds, random and region-stratified splits give the same test error.</a:t>
            </a:r>
          </a:p>
          <a:p>
            <a:pPr algn="l" marL="219456" indent="-219456">
              <a:spcAft>
                <a:spcPts val="1200"/>
              </a:spcAft>
              <a:buClr>
                <a:srgbClr val="AB3D3F"/>
              </a:buClr>
              <a:buFont typeface="Arial"/>
              <a:buChar char="•"/>
            </a:pPr>
            <a:r>
              <a:rPr sz="1600" b="0" i="0">
                <a:solidFill>
                  <a:srgbClr val="262626"/>
                </a:solidFill>
                <a:latin typeface="Candara"/>
              </a:rPr>
              <a:t>Train on two regions, predict the third, and the error is four times larger.</a:t>
            </a:r>
          </a:p>
          <a:p>
            <a:pPr algn="l" marL="219456" indent="-219456">
              <a:spcAft>
                <a:spcPts val="600"/>
              </a:spcAft>
              <a:buClr>
                <a:srgbClr val="AB3D3F"/>
              </a:buClr>
              <a:buFont typeface="Arial"/>
              <a:buChar char="•"/>
            </a:pPr>
            <a:r>
              <a:rPr sz="1600" b="0" i="0">
                <a:solidFill>
                  <a:srgbClr val="262626"/>
                </a:solidFill>
                <a:latin typeface="Candara"/>
              </a:rPr>
              <a:t>So the model cannot yet rank districts in a region it has not seen, such as the 207 districts outside our data.</a:t>
            </a:r>
          </a:p>
        </p:txBody>
      </p:sp>
      <p:graphicFrame>
        <p:nvGraphicFramePr>
          <p:cNvPr id="4" name="Chart 3"/>
          <p:cNvGraphicFramePr>
            <a:graphicFrameLocks noGrp="1"/>
          </p:cNvGraphicFramePr>
          <p:nvPr/>
        </p:nvGraphicFramePr>
        <p:xfrm>
          <a:off x="5577840" y="1371600"/>
          <a:ext cx="6035040" cy="3886200"/>
        </p:xfrm>
        <a:graphic>
          <a:graphicData uri="http://schemas.openxmlformats.org/drawingml/2006/chart">
            <c:chart xmlns:c="http://schemas.openxmlformats.org/drawingml/2006/chart" r:id="rId2"/>
          </a:graphicData>
        </a:graphic>
      </p:graphicFrame>
      <p:sp>
        <p:nvSpPr>
          <p:cNvPr id="5" name="TextBox 4"/>
          <p:cNvSpPr txBox="1"/>
          <p:nvPr/>
        </p:nvSpPr>
        <p:spPr>
          <a:xfrm>
            <a:off x="5577840" y="5303520"/>
            <a:ext cx="6035040" cy="50292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Test RMSE in confirmed cases, Ridge model from notebook 03. Random splits: median of 500 seeds. Held out: Northern 272,529, Upper East 589,777, Upper West 139,143.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What our rule does with our data</a:t>
            </a:r>
          </a:p>
        </p:txBody>
      </p:sp>
      <p:sp>
        <p:nvSpPr>
          <p:cNvPr id="3" name="TextBox 2"/>
          <p:cNvSpPr txBox="1"/>
          <p:nvPr/>
        </p:nvSpPr>
        <p:spPr>
          <a:xfrm>
            <a:off x="566928" y="1325880"/>
            <a:ext cx="6263640" cy="4572000"/>
          </a:xfrm>
          <a:prstGeom prst="rect">
            <a:avLst/>
          </a:prstGeom>
          <a:noFill/>
        </p:spPr>
        <p:txBody>
          <a:bodyPr wrap="square" anchor="t" lIns="0" rIns="0" tIns="0" bIns="0">
            <a:spAutoFit/>
          </a:bodyPr>
          <a:lstStyle/>
          <a:p>
            <a:pPr algn="l">
              <a:spcAft>
                <a:spcPts val="400"/>
              </a:spcAft>
            </a:pPr>
            <a:r>
              <a:rPr sz="1700" b="1" i="0">
                <a:solidFill>
                  <a:srgbClr val="AB3D3F"/>
                </a:solidFill>
                <a:latin typeface="Candara"/>
              </a:rPr>
              <a:t>The rule, for each district i</a:t>
            </a:r>
          </a:p>
          <a:p>
            <a:pPr algn="l">
              <a:spcAft>
                <a:spcPts val="200"/>
              </a:spcAft>
            </a:pPr>
            <a:r>
              <a:rPr sz="1800" b="0" i="0">
                <a:solidFill>
                  <a:srgbClr val="262626"/>
                </a:solidFill>
                <a:latin typeface="Cambria Math"/>
              </a:rPr>
              <a:t>log μ</a:t>
            </a:r>
            <a:r>
              <a:rPr baseline="-25000" sz="1800" b="0" i="0">
                <a:solidFill>
                  <a:srgbClr val="262626"/>
                </a:solidFill>
                <a:latin typeface="Cambria Math"/>
              </a:rPr>
              <a:t>i</a:t>
            </a:r>
            <a:r>
              <a:rPr sz="1800" b="0" i="0">
                <a:solidFill>
                  <a:srgbClr val="262626"/>
                </a:solidFill>
                <a:latin typeface="Cambria Math"/>
              </a:rPr>
              <a:t> = log pop</a:t>
            </a:r>
            <a:r>
              <a:rPr baseline="-25000" sz="1800" b="0" i="0">
                <a:solidFill>
                  <a:srgbClr val="262626"/>
                </a:solidFill>
                <a:latin typeface="Cambria Math"/>
              </a:rPr>
              <a:t>i</a:t>
            </a:r>
            <a:r>
              <a:rPr sz="1800" b="0" i="0">
                <a:solidFill>
                  <a:srgbClr val="262626"/>
                </a:solidFill>
                <a:latin typeface="Cambria Math"/>
              </a:rPr>
              <a:t> + β</a:t>
            </a:r>
            <a:r>
              <a:rPr baseline="-25000" sz="1800" b="0" i="0">
                <a:solidFill>
                  <a:srgbClr val="262626"/>
                </a:solidFill>
                <a:latin typeface="Cambria Math"/>
              </a:rPr>
              <a:t>0</a:t>
            </a:r>
            <a:r>
              <a:rPr sz="1800" b="0" i="0">
                <a:solidFill>
                  <a:srgbClr val="262626"/>
                </a:solidFill>
                <a:latin typeface="Cambria Math"/>
              </a:rPr>
              <a:t> + β</a:t>
            </a:r>
            <a:r>
              <a:rPr baseline="-25000" sz="1800" b="0" i="0">
                <a:solidFill>
                  <a:srgbClr val="262626"/>
                </a:solidFill>
                <a:latin typeface="Cambria Math"/>
              </a:rPr>
              <a:t>1</a:t>
            </a:r>
            <a:r>
              <a:rPr sz="1800" b="0" i="0">
                <a:solidFill>
                  <a:srgbClr val="262626"/>
                </a:solidFill>
                <a:latin typeface="Cambria Math"/>
              </a:rPr>
              <a:t> c</a:t>
            </a:r>
            <a:r>
              <a:rPr baseline="-25000" sz="1800" b="0" i="0">
                <a:solidFill>
                  <a:srgbClr val="262626"/>
                </a:solidFill>
                <a:latin typeface="Cambria Math"/>
              </a:rPr>
              <a:t>i</a:t>
            </a:r>
          </a:p>
          <a:p>
            <a:pPr algn="l">
              <a:spcAft>
                <a:spcPts val="200"/>
              </a:spcAft>
            </a:pPr>
            <a:r>
              <a:rPr sz="1800" b="0" i="0">
                <a:solidFill>
                  <a:srgbClr val="262626"/>
                </a:solidFill>
                <a:latin typeface="Cambria Math"/>
              </a:rPr>
              <a:t>w</a:t>
            </a:r>
            <a:r>
              <a:rPr baseline="-25000" sz="1800" b="0" i="0">
                <a:solidFill>
                  <a:srgbClr val="262626"/>
                </a:solidFill>
                <a:latin typeface="Cambria Math"/>
              </a:rPr>
              <a:t>i</a:t>
            </a:r>
            <a:r>
              <a:rPr sz="1800" b="0" i="0">
                <a:solidFill>
                  <a:srgbClr val="262626"/>
                </a:solidFill>
                <a:latin typeface="Cambria Math"/>
              </a:rPr>
              <a:t> = U</a:t>
            </a:r>
            <a:r>
              <a:rPr baseline="-25000" sz="1800" b="0" i="0">
                <a:solidFill>
                  <a:srgbClr val="262626"/>
                </a:solidFill>
                <a:latin typeface="Cambria Math"/>
              </a:rPr>
              <a:t>i</a:t>
            </a:r>
            <a:r>
              <a:rPr sz="1800" b="0" i="0">
                <a:solidFill>
                  <a:srgbClr val="262626"/>
                </a:solidFill>
                <a:latin typeface="Cambria Math"/>
              </a:rPr>
              <a:t> × (1 − c</a:t>
            </a:r>
            <a:r>
              <a:rPr baseline="-25000" sz="1800" b="0" i="0">
                <a:solidFill>
                  <a:srgbClr val="262626"/>
                </a:solidFill>
                <a:latin typeface="Cambria Math"/>
              </a:rPr>
              <a:t>i</a:t>
            </a:r>
            <a:r>
              <a:rPr sz="1800" b="0" i="0">
                <a:solidFill>
                  <a:srgbClr val="262626"/>
                </a:solidFill>
                <a:latin typeface="Cambria Math"/>
              </a:rPr>
              <a:t> / 100)</a:t>
            </a:r>
          </a:p>
          <a:p>
            <a:pPr algn="l">
              <a:spcAft>
                <a:spcPts val="600"/>
              </a:spcAft>
            </a:pPr>
            <a:r>
              <a:rPr sz="1500" b="0" i="0">
                <a:solidFill>
                  <a:srgbClr val="262626"/>
                </a:solidFill>
                <a:latin typeface="Cambria Math"/>
              </a:rPr>
              <a:t>q</a:t>
            </a:r>
            <a:r>
              <a:rPr baseline="-25000" sz="1500" b="0" i="0">
                <a:solidFill>
                  <a:srgbClr val="262626"/>
                </a:solidFill>
                <a:latin typeface="Cambria Math"/>
              </a:rPr>
              <a:t>i</a:t>
            </a:r>
            <a:r>
              <a:rPr sz="1500" b="0" i="0">
                <a:solidFill>
                  <a:srgbClr val="262626"/>
                </a:solidFill>
                <a:latin typeface="Cambria Math"/>
              </a:rPr>
              <a:t> = 50,000 × w</a:t>
            </a:r>
            <a:r>
              <a:rPr baseline="-25000" sz="1500" b="0" i="0">
                <a:solidFill>
                  <a:srgbClr val="262626"/>
                </a:solidFill>
                <a:latin typeface="Cambria Math"/>
              </a:rPr>
              <a:t>i</a:t>
            </a:r>
            <a:r>
              <a:rPr sz="1500" b="0" i="0">
                <a:solidFill>
                  <a:srgbClr val="262626"/>
                </a:solidFill>
                <a:latin typeface="Cambria Math"/>
              </a:rPr>
              <a:t> / Σ</a:t>
            </a:r>
            <a:r>
              <a:rPr baseline="-25000" sz="1500" b="0" i="0">
                <a:solidFill>
                  <a:srgbClr val="262626"/>
                </a:solidFill>
                <a:latin typeface="Cambria Math"/>
              </a:rPr>
              <a:t>j</a:t>
            </a:r>
            <a:r>
              <a:rPr sz="1500" b="0" i="0">
                <a:solidFill>
                  <a:srgbClr val="262626"/>
                </a:solidFill>
                <a:latin typeface="Cambria Math"/>
              </a:rPr>
              <a:t> w</a:t>
            </a:r>
            <a:r>
              <a:rPr baseline="-25000" sz="1500" b="0" i="0">
                <a:solidFill>
                  <a:srgbClr val="262626"/>
                </a:solidFill>
                <a:latin typeface="Cambria Math"/>
              </a:rPr>
              <a:t>j</a:t>
            </a:r>
            <a:r>
              <a:rPr sz="1500" b="0" i="0">
                <a:solidFill>
                  <a:srgbClr val="262626"/>
                </a:solidFill>
                <a:latin typeface="Cambria Math"/>
              </a:rPr>
              <a:t>,   A</a:t>
            </a:r>
            <a:r>
              <a:rPr baseline="-25000" sz="1500" b="0" i="0">
                <a:solidFill>
                  <a:srgbClr val="262626"/>
                </a:solidFill>
                <a:latin typeface="Cambria Math"/>
              </a:rPr>
              <a:t>i</a:t>
            </a:r>
            <a:r>
              <a:rPr sz="1500" b="0" i="0">
                <a:solidFill>
                  <a:srgbClr val="262626"/>
                </a:solidFill>
                <a:latin typeface="Cambria Math"/>
              </a:rPr>
              <a:t> = ⌊q</a:t>
            </a:r>
            <a:r>
              <a:rPr baseline="-25000" sz="1500" b="0" i="0">
                <a:solidFill>
                  <a:srgbClr val="262626"/>
                </a:solidFill>
                <a:latin typeface="Cambria Math"/>
              </a:rPr>
              <a:t>i</a:t>
            </a:r>
            <a:r>
              <a:rPr sz="1500" b="0" i="0">
                <a:solidFill>
                  <a:srgbClr val="262626"/>
                </a:solidFill>
                <a:latin typeface="Cambria Math"/>
              </a:rPr>
              <a:t>⌋ or ⌊q</a:t>
            </a:r>
            <a:r>
              <a:rPr baseline="-25000" sz="1500" b="0" i="0">
                <a:solidFill>
                  <a:srgbClr val="262626"/>
                </a:solidFill>
                <a:latin typeface="Cambria Math"/>
              </a:rPr>
              <a:t>i</a:t>
            </a:r>
            <a:r>
              <a:rPr sz="1500" b="0" i="0">
                <a:solidFill>
                  <a:srgbClr val="262626"/>
                </a:solidFill>
                <a:latin typeface="Cambria Math"/>
              </a:rPr>
              <a:t>⌋ + 1,   Σ</a:t>
            </a:r>
            <a:r>
              <a:rPr baseline="-25000" sz="1500" b="0" i="0">
                <a:solidFill>
                  <a:srgbClr val="262626"/>
                </a:solidFill>
                <a:latin typeface="Cambria Math"/>
              </a:rPr>
              <a:t>i</a:t>
            </a:r>
            <a:r>
              <a:rPr sz="1500" b="0" i="0">
                <a:solidFill>
                  <a:srgbClr val="262626"/>
                </a:solidFill>
                <a:latin typeface="Cambria Math"/>
              </a:rPr>
              <a:t> A</a:t>
            </a:r>
            <a:r>
              <a:rPr baseline="-25000" sz="1500" b="0" i="0">
                <a:solidFill>
                  <a:srgbClr val="262626"/>
                </a:solidFill>
                <a:latin typeface="Cambria Math"/>
              </a:rPr>
              <a:t>i</a:t>
            </a:r>
            <a:r>
              <a:rPr sz="1500" b="0" i="0">
                <a:solidFill>
                  <a:srgbClr val="262626"/>
                </a:solidFill>
                <a:latin typeface="Cambria Math"/>
              </a:rPr>
              <a:t> = 50,000</a:t>
            </a:r>
          </a:p>
          <a:p>
            <a:pPr algn="l">
              <a:spcAft>
                <a:spcPts val="1000"/>
              </a:spcAft>
            </a:pPr>
            <a:r>
              <a:rPr sz="1150" b="0" i="0">
                <a:solidFill>
                  <a:srgbClr val="595959"/>
                </a:solidFill>
                <a:latin typeface="Candara"/>
              </a:rPr>
              <a:t>Unit: district i. Target: μ</a:t>
            </a:r>
            <a:r>
              <a:rPr baseline="-25000" sz="1150" b="0" i="0">
                <a:solidFill>
                  <a:srgbClr val="595959"/>
                </a:solidFill>
                <a:latin typeface="Candara"/>
              </a:rPr>
              <a:t>i</a:t>
            </a:r>
            <a:r>
              <a:rPr sz="1150" b="0" i="0">
                <a:solidFill>
                  <a:srgbClr val="595959"/>
                </a:solidFill>
                <a:latin typeface="Candara"/>
              </a:rPr>
              <a:t>, expected confirmed cases 2014-17, from a negative binomial (variance μ</a:t>
            </a:r>
            <a:r>
              <a:rPr baseline="-25000" sz="1150" b="0" i="0">
                <a:solidFill>
                  <a:srgbClr val="595959"/>
                </a:solidFill>
                <a:latin typeface="Candara"/>
              </a:rPr>
              <a:t>i</a:t>
            </a:r>
            <a:r>
              <a:rPr sz="1150" b="0" i="0">
                <a:solidFill>
                  <a:srgbClr val="595959"/>
                </a:solidFill>
                <a:latin typeface="Candara"/>
              </a:rPr>
              <a:t> + αμ</a:t>
            </a:r>
            <a:r>
              <a:rPr baseline="-25000" sz="1150" b="0" i="0">
                <a:solidFill>
                  <a:srgbClr val="595959"/>
                </a:solidFill>
                <a:latin typeface="Candara"/>
              </a:rPr>
              <a:t>i</a:t>
            </a:r>
            <a:r>
              <a:rPr sz="1150" b="0" i="0">
                <a:solidFill>
                  <a:srgbClr val="595959"/>
                </a:solidFill>
                <a:latin typeface="Candara"/>
              </a:rPr>
              <a:t>², α = 0.268). Metric: the weight w</a:t>
            </a:r>
            <a:r>
              <a:rPr baseline="-25000" sz="1150" b="0" i="0">
                <a:solidFill>
                  <a:srgbClr val="595959"/>
                </a:solidFill>
                <a:latin typeface="Candara"/>
              </a:rPr>
              <a:t>i</a:t>
            </a:r>
            <a:r>
              <a:rPr sz="1150" b="0" i="0">
                <a:solidFill>
                  <a:srgbClr val="595959"/>
                </a:solidFill>
                <a:latin typeface="Candara"/>
              </a:rPr>
              <a:t>. U</a:t>
            </a:r>
            <a:r>
              <a:rPr baseline="-25000" sz="1150" b="0" i="0">
                <a:solidFill>
                  <a:srgbClr val="595959"/>
                </a:solidFill>
                <a:latin typeface="Candara"/>
              </a:rPr>
              <a:t>i</a:t>
            </a:r>
            <a:r>
              <a:rPr sz="1150" b="0" i="0">
                <a:solidFill>
                  <a:srgbClr val="595959"/>
                </a:solidFill>
                <a:latin typeface="Candara"/>
              </a:rPr>
              <a:t>: upper 95% confidence bound for μ</a:t>
            </a:r>
            <a:r>
              <a:rPr baseline="-25000" sz="1150" b="0" i="0">
                <a:solidFill>
                  <a:srgbClr val="595959"/>
                </a:solidFill>
                <a:latin typeface="Candara"/>
              </a:rPr>
              <a:t>i</a:t>
            </a:r>
            <a:r>
              <a:rPr sz="1150" b="0" i="0">
                <a:solidFill>
                  <a:srgbClr val="595959"/>
                </a:solidFill>
                <a:latin typeface="Candara"/>
              </a:rPr>
              <a:t>. c</a:t>
            </a:r>
            <a:r>
              <a:rPr baseline="-25000" sz="1150" b="0" i="0">
                <a:solidFill>
                  <a:srgbClr val="595959"/>
                </a:solidFill>
                <a:latin typeface="Candara"/>
              </a:rPr>
              <a:t>i</a:t>
            </a:r>
            <a:r>
              <a:rPr sz="1150" b="0" i="0">
                <a:solidFill>
                  <a:srgbClr val="595959"/>
                </a:solidFill>
                <a:latin typeface="Candara"/>
              </a:rPr>
              <a:t>: % of homes with a net in i's region. A</a:t>
            </a:r>
            <a:r>
              <a:rPr baseline="-25000" sz="1150" b="0" i="0">
                <a:solidFill>
                  <a:srgbClr val="595959"/>
                </a:solidFill>
                <a:latin typeface="Candara"/>
              </a:rPr>
              <a:t>i</a:t>
            </a:r>
            <a:r>
              <a:rPr sz="1150" b="0" i="0">
                <a:solidFill>
                  <a:srgbClr val="595959"/>
                </a:solidFill>
                <a:latin typeface="Candara"/>
              </a:rPr>
              <a:t>: nets, by Hamilton's largest-remainder method.</a:t>
            </a:r>
          </a:p>
          <a:p>
            <a:pPr algn="l">
              <a:spcAft>
                <a:spcPts val="400"/>
              </a:spcAft>
            </a:pPr>
            <a:r>
              <a:rPr sz="1700" b="1" i="0">
                <a:solidFill>
                  <a:srgbClr val="AB3D3F"/>
                </a:solidFill>
                <a:latin typeface="Candara"/>
              </a:rPr>
              <a:t>What it does with our data</a:t>
            </a:r>
          </a:p>
          <a:p>
            <a:pPr algn="l" marL="219456" indent="-219456">
              <a:spcAft>
                <a:spcPts val="600"/>
              </a:spcAft>
              <a:buClr>
                <a:srgbClr val="AB3D3F"/>
              </a:buClr>
              <a:buFont typeface="Arial"/>
              <a:buChar char="•"/>
            </a:pPr>
            <a:r>
              <a:rPr sz="1300" b="0" i="0">
                <a:solidFill>
                  <a:srgbClr val="262626"/>
                </a:solidFill>
                <a:latin typeface="Candara"/>
              </a:rPr>
              <a:t>c</a:t>
            </a:r>
            <a:r>
              <a:rPr baseline="-25000" sz="1300" b="0" i="0">
                <a:solidFill>
                  <a:srgbClr val="262626"/>
                </a:solidFill>
                <a:latin typeface="Candara"/>
              </a:rPr>
              <a:t>i</a:t>
            </a:r>
            <a:r>
              <a:rPr sz="1300" b="0" i="0">
                <a:solidFill>
                  <a:srgbClr val="262626"/>
                </a:solidFill>
                <a:latin typeface="Candara"/>
              </a:rPr>
              <a:t> takes one value per region, so inside a region nets follow population: 8.5, 16.0 and 9.2 per 1,000 people.</a:t>
            </a:r>
          </a:p>
          <a:p>
            <a:pPr algn="l" marL="219456" indent="-219456">
              <a:spcAft>
                <a:spcPts val="600"/>
              </a:spcAft>
              <a:buClr>
                <a:srgbClr val="AB3D3F"/>
              </a:buClr>
              <a:buFont typeface="Arial"/>
              <a:buChar char="•"/>
            </a:pPr>
            <a:r>
              <a:rPr sz="1300" b="0" i="0">
                <a:solidFill>
                  <a:srgbClr val="262626"/>
                </a:solidFill>
                <a:latin typeface="Candara"/>
              </a:rPr>
              <a:t>U</a:t>
            </a:r>
            <a:r>
              <a:rPr baseline="-25000" sz="1300" b="0" i="0">
                <a:solidFill>
                  <a:srgbClr val="262626"/>
                </a:solidFill>
                <a:latin typeface="Candara"/>
              </a:rPr>
              <a:t>i</a:t>
            </a:r>
            <a:r>
              <a:rPr sz="1300" b="0" i="0">
                <a:solidFill>
                  <a:srgbClr val="262626"/>
                </a:solidFill>
                <a:latin typeface="Candara"/>
              </a:rPr>
              <a:t> = μ</a:t>
            </a:r>
            <a:r>
              <a:rPr baseline="-25000" sz="1300" b="0" i="0">
                <a:solidFill>
                  <a:srgbClr val="262626"/>
                </a:solidFill>
                <a:latin typeface="Candara"/>
              </a:rPr>
              <a:t>i</a:t>
            </a:r>
            <a:r>
              <a:rPr sz="1300" b="0" i="0">
                <a:solidFill>
                  <a:srgbClr val="262626"/>
                </a:solidFill>
                <a:latin typeface="Candara"/>
              </a:rPr>
              <a:t> × 1.20, 1.34 or 1.16: one multiplier per region, from a confidence interval for the mean.</a:t>
            </a:r>
          </a:p>
          <a:p>
            <a:pPr algn="l" marL="219456" indent="-219456">
              <a:spcAft>
                <a:spcPts val="600"/>
              </a:spcAft>
              <a:buClr>
                <a:srgbClr val="AB3D3F"/>
              </a:buClr>
              <a:buFont typeface="Arial"/>
              <a:buChar char="•"/>
            </a:pPr>
            <a:r>
              <a:rPr sz="1300" b="0" i="0">
                <a:solidFill>
                  <a:srgbClr val="262626"/>
                </a:solidFill>
                <a:latin typeface="Candara"/>
              </a:rPr>
              <a:t>β</a:t>
            </a:r>
            <a:r>
              <a:rPr baseline="-25000" sz="1300" b="0" i="0">
                <a:solidFill>
                  <a:srgbClr val="262626"/>
                </a:solidFill>
                <a:latin typeface="Candara"/>
              </a:rPr>
              <a:t>1</a:t>
            </a:r>
            <a:r>
              <a:rPr sz="1300" b="0" i="0">
                <a:solidFill>
                  <a:srgbClr val="262626"/>
                </a:solidFill>
                <a:latin typeface="Candara"/>
              </a:rPr>
              <a:t> = +0.082 per point: more nets went with more malaria, so the split between regions is uncertain.</a:t>
            </a:r>
          </a:p>
        </p:txBody>
      </p:sp>
      <p:graphicFrame>
        <p:nvGraphicFramePr>
          <p:cNvPr id="4" name="Chart 3"/>
          <p:cNvGraphicFramePr>
            <a:graphicFrameLocks noGrp="1"/>
          </p:cNvGraphicFramePr>
          <p:nvPr/>
        </p:nvGraphicFramePr>
        <p:xfrm>
          <a:off x="7040880" y="1417320"/>
          <a:ext cx="4572000" cy="3840480"/>
        </p:xfrm>
        <a:graphic>
          <a:graphicData uri="http://schemas.openxmlformats.org/drawingml/2006/chart">
            <c:chart xmlns:c="http://schemas.openxmlformats.org/drawingml/2006/chart" r:id="rId2"/>
          </a:graphicData>
        </a:graphic>
      </p:graphicFrame>
      <p:sp>
        <p:nvSpPr>
          <p:cNvPr id="5" name="TextBox 4"/>
          <p:cNvSpPr txBox="1"/>
          <p:nvPr/>
        </p:nvSpPr>
        <p:spPr>
          <a:xfrm>
            <a:off x="7040880" y="5303520"/>
            <a:ext cx="4572000" cy="54864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Nets per 1,000 people by region, with the share of households owning a net (DHS 2022). Upper East has the highest coverage and the most nets per person: the coefficient reflects region, not the effect of nets, so the regional split is uncertain (slide 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Where the need looks highest, and how sure we are</a:t>
            </a:r>
          </a:p>
        </p:txBody>
      </p:sp>
      <p:pic>
        <p:nvPicPr>
          <p:cNvPr id="3" name="Picture 2" descr="burden_map.png"/>
          <p:cNvPicPr>
            <a:picLocks noChangeAspect="1"/>
          </p:cNvPicPr>
          <p:nvPr/>
        </p:nvPicPr>
        <p:blipFill>
          <a:blip r:embed="rId2"/>
          <a:stretch>
            <a:fillRect/>
          </a:stretch>
        </p:blipFill>
        <p:spPr>
          <a:xfrm>
            <a:off x="1524535" y="1325880"/>
            <a:ext cx="3479744" cy="3474720"/>
          </a:xfrm>
          <a:prstGeom prst="rect">
            <a:avLst/>
          </a:prstGeom>
        </p:spPr>
      </p:pic>
      <p:sp>
        <p:nvSpPr>
          <p:cNvPr id="4" name="TextBox 3"/>
          <p:cNvSpPr txBox="1"/>
          <p:nvPr/>
        </p:nvSpPr>
        <p:spPr>
          <a:xfrm>
            <a:off x="566928" y="4892040"/>
            <a:ext cx="5394960" cy="54864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Reported burden. </a:t>
            </a:r>
            <a:r>
              <a:rPr sz="1200" b="0" i="0">
                <a:solidFill>
                  <a:srgbClr val="262626"/>
                </a:solidFill>
                <a:latin typeface="Candara"/>
              </a:rPr>
              <a:t>Confirmed cases per person, 2014-17: highest in Upper East and Upper West, lowest across Northern Region. Grey areas have no case data of their own.</a:t>
            </a:r>
          </a:p>
        </p:txBody>
      </p:sp>
      <p:pic>
        <p:nvPicPr>
          <p:cNvPr id="5" name="Picture 4" descr="uncertainty_map.png"/>
          <p:cNvPicPr>
            <a:picLocks noChangeAspect="1"/>
          </p:cNvPicPr>
          <p:nvPr/>
        </p:nvPicPr>
        <p:blipFill>
          <a:blip r:embed="rId3"/>
          <a:stretch>
            <a:fillRect/>
          </a:stretch>
        </p:blipFill>
        <p:spPr>
          <a:xfrm>
            <a:off x="7184671" y="1325880"/>
            <a:ext cx="3479744" cy="3474720"/>
          </a:xfrm>
          <a:prstGeom prst="rect">
            <a:avLst/>
          </a:prstGeom>
        </p:spPr>
      </p:pic>
      <p:sp>
        <p:nvSpPr>
          <p:cNvPr id="6" name="TextBox 5"/>
          <p:cNvSpPr txBox="1"/>
          <p:nvPr/>
        </p:nvSpPr>
        <p:spPr>
          <a:xfrm>
            <a:off x="6227064" y="4892040"/>
            <a:ext cx="5394960" cy="548640"/>
          </a:xfrm>
          <a:prstGeom prst="rect">
            <a:avLst/>
          </a:prstGeom>
          <a:noFill/>
        </p:spPr>
        <p:txBody>
          <a:bodyPr wrap="square" anchor="t" lIns="0" rIns="0" tIns="0" bIns="0">
            <a:spAutoFit/>
          </a:bodyPr>
          <a:lstStyle/>
          <a:p>
            <a:pPr algn="l">
              <a:spcAft>
                <a:spcPts val="600"/>
              </a:spcAft>
            </a:pPr>
            <a:r>
              <a:rPr sz="1200" b="1" i="0">
                <a:solidFill>
                  <a:srgbClr val="262626"/>
                </a:solidFill>
                <a:latin typeface="Candara"/>
              </a:rPr>
              <a:t>How sure we are. </a:t>
            </a:r>
            <a:r>
              <a:rPr sz="1200" b="0" i="0">
                <a:solidFill>
                  <a:srgbClr val="262626"/>
                </a:solidFill>
                <a:latin typeface="Candara"/>
              </a:rPr>
              <a:t>Our upper bound sits 20% above the estimate in Northern, 34% in Upper East and 16% in Upper West: one number per region, because coverage is.</a:t>
            </a:r>
          </a:p>
        </p:txBody>
      </p:sp>
      <p:sp>
        <p:nvSpPr>
          <p:cNvPr id="7" name="TextBox 6"/>
          <p:cNvSpPr txBox="1"/>
          <p:nvPr/>
        </p:nvSpPr>
        <p:spPr>
          <a:xfrm>
            <a:off x="566928" y="5504688"/>
            <a:ext cx="11055096" cy="365760"/>
          </a:xfrm>
          <a:prstGeom prst="rect">
            <a:avLst/>
          </a:prstGeom>
          <a:noFill/>
        </p:spPr>
        <p:txBody>
          <a:bodyPr wrap="square" anchor="t" lIns="0" rIns="0" tIns="0" bIns="0">
            <a:spAutoFit/>
          </a:bodyPr>
          <a:lstStyle/>
          <a:p>
            <a:pPr algn="l">
              <a:spcAft>
                <a:spcPts val="600"/>
              </a:spcAft>
            </a:pPr>
            <a:r>
              <a:rPr sz="1400" b="1" i="0">
                <a:solidFill>
                  <a:srgbClr val="AB3D3F"/>
                </a:solidFill>
                <a:latin typeface="Candara"/>
              </a:rPr>
              <a:t>Takeaway: </a:t>
            </a:r>
            <a:r>
              <a:rPr sz="1400" b="0" i="0">
                <a:solidFill>
                  <a:srgbClr val="262626"/>
                </a:solidFill>
                <a:latin typeface="Candara"/>
              </a:rPr>
              <a:t>the rule uses the upper bound, so it leans towards the region we are least sure about.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spcAft>
                <a:spcPts val="400"/>
              </a:spcAft>
            </a:pPr>
            <a:r>
              <a:rPr sz="1800" b="1" i="0">
                <a:solidFill>
                  <a:srgbClr val="AB3D3F"/>
                </a:solidFill>
                <a:latin typeface="Candara"/>
              </a:rPr>
              <a:t>Regional totals</a:t>
            </a:r>
          </a:p>
          <a:p>
            <a:pPr algn="l">
              <a:spcAft>
                <a:spcPts val="1400"/>
              </a:spcAft>
            </a:pPr>
            <a:r>
              <a:rPr sz="1600" b="0" i="0">
                <a:solidFill>
                  <a:srgbClr val="262626"/>
                </a:solidFill>
                <a:latin typeface="Candara"/>
              </a:rPr>
              <a:t>Northern 24,196 · Upper East 18,631 · Upper West 7,173</a:t>
            </a:r>
          </a:p>
          <a:p>
            <a:pPr algn="l">
              <a:spcAft>
                <a:spcPts val="400"/>
              </a:spcAft>
            </a:pPr>
            <a:r>
              <a:rPr sz="1800" b="1" i="0">
                <a:solidFill>
                  <a:srgbClr val="AB3D3F"/>
                </a:solidFill>
                <a:latin typeface="Candara"/>
              </a:rPr>
              <a:t>Largest allocations</a:t>
            </a:r>
          </a:p>
          <a:p>
            <a:pPr algn="l">
              <a:spcAft>
                <a:spcPts val="1400"/>
              </a:spcAft>
            </a:pPr>
            <a:r>
              <a:rPr sz="1600" b="0" i="0">
                <a:solidFill>
                  <a:srgbClr val="262626"/>
                </a:solidFill>
                <a:latin typeface="Candara"/>
              </a:rPr>
              <a:t>Bolgatanga 2,350 · Garu-Tempane 2,309 · Tamale 2,175 · Kasena-Nankana 1,954 · Bawku 1,750</a:t>
            </a:r>
          </a:p>
          <a:p>
            <a:pPr algn="l">
              <a:spcAft>
                <a:spcPts val="400"/>
              </a:spcAft>
            </a:pPr>
            <a:r>
              <a:rPr sz="1800" b="1" i="0">
                <a:solidFill>
                  <a:srgbClr val="AB3D3F"/>
                </a:solidFill>
                <a:latin typeface="Candara"/>
              </a:rPr>
              <a:t>Smallest</a:t>
            </a:r>
          </a:p>
          <a:p>
            <a:pPr algn="l">
              <a:spcAft>
                <a:spcPts val="600"/>
              </a:spcAft>
            </a:pPr>
            <a:r>
              <a:rPr sz="1600" b="0" i="0">
                <a:solidFill>
                  <a:srgbClr val="262626"/>
                </a:solidFill>
                <a:latin typeface="Candara"/>
              </a:rPr>
              <a:t>Daffiama-Bussie-Issa, 335. Every district receives nets, and the total is exactly 50,000.</a:t>
            </a:r>
          </a:p>
        </p:txBody>
      </p:sp>
      <p:sp>
        <p:nvSpPr>
          <p:cNvPr id="4" name="Text Placeholder 3"/>
          <p:cNvSpPr>
            <a:spLocks noGrp="1"/>
          </p:cNvSpPr>
          <p:nvPr>
            <p:ph type="body" idx="11" sz="quarter"/>
          </p:nvPr>
        </p:nvSpPr>
        <p:spPr>
          <a:xfrm>
            <a:off x="571500" y="571500"/>
            <a:ext cx="5669280" cy="825785"/>
          </a:xfrm>
        </p:spPr>
        <p:txBody>
          <a:bodyPr/>
          <a:lstStyle/>
          <a:p>
            <a:r>
              <a:rPr sz="3000"/>
              <a:t>The proposed allocation</a:t>
            </a:r>
          </a:p>
        </p:txBody>
      </p:sp>
      <p:sp>
        <p:nvSpPr>
          <p:cNvPr id="5" name="Rounded Rectangle 4"/>
          <p:cNvSpPr/>
          <p:nvPr/>
        </p:nvSpPr>
        <p:spPr>
          <a:xfrm>
            <a:off x="6858000" y="640080"/>
            <a:ext cx="4983480" cy="52578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ctr"/>
          </a:p>
        </p:txBody>
      </p:sp>
      <p:pic>
        <p:nvPicPr>
          <p:cNvPr id="6" name="Picture 5" descr="alloc_map.png"/>
          <p:cNvPicPr>
            <a:picLocks noChangeAspect="1"/>
          </p:cNvPicPr>
          <p:nvPr/>
        </p:nvPicPr>
        <p:blipFill>
          <a:blip r:embed="rId2"/>
          <a:stretch>
            <a:fillRect/>
          </a:stretch>
        </p:blipFill>
        <p:spPr>
          <a:xfrm>
            <a:off x="6995160" y="917800"/>
            <a:ext cx="4709160" cy="4702359"/>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Who gains, who loses, and why</a:t>
            </a:r>
          </a:p>
        </p:txBody>
      </p:sp>
      <p:sp>
        <p:nvSpPr>
          <p:cNvPr id="3" name="TextBox 2"/>
          <p:cNvSpPr txBox="1"/>
          <p:nvPr/>
        </p:nvSpPr>
        <p:spPr>
          <a:xfrm>
            <a:off x="566928" y="1417320"/>
            <a:ext cx="5029200" cy="4434840"/>
          </a:xfrm>
          <a:prstGeom prst="rect">
            <a:avLst/>
          </a:prstGeom>
          <a:noFill/>
        </p:spPr>
        <p:txBody>
          <a:bodyPr wrap="square" anchor="t" lIns="0" rIns="0" tIns="0" bIns="0">
            <a:spAutoFit/>
          </a:bodyPr>
          <a:lstStyle/>
          <a:p>
            <a:pPr algn="l" marL="219456" indent="-219456">
              <a:spcAft>
                <a:spcPts val="900"/>
              </a:spcAft>
              <a:buClr>
                <a:srgbClr val="AB3D3F"/>
              </a:buClr>
              <a:buFont typeface="Arial"/>
              <a:buChar char="•"/>
            </a:pPr>
            <a:r>
              <a:rPr sz="1400" b="0" i="0">
                <a:solidFill>
                  <a:srgbClr val="262626"/>
                </a:solidFill>
                <a:latin typeface="Candara"/>
              </a:rPr>
              <a:t>Our comparator gives nets in proportion to reported cases. It is not Ghana's practice: national campaigns allocate by population, about one net per two people.</a:t>
            </a:r>
          </a:p>
          <a:p>
            <a:pPr algn="l" marL="219456" indent="-219456">
              <a:spcAft>
                <a:spcPts val="900"/>
              </a:spcAft>
              <a:buClr>
                <a:srgbClr val="AB3D3F"/>
              </a:buClr>
              <a:buFont typeface="Arial"/>
              <a:buChar char="•"/>
            </a:pPr>
            <a:r>
              <a:rPr sz="1400" b="0" i="0">
                <a:solidFill>
                  <a:srgbClr val="262626"/>
                </a:solidFill>
                <a:latin typeface="Candara"/>
              </a:rPr>
              <a:t>Tamale gains most (+1,692): the largest population, and the lowest reported cases per person of all 50 districts.</a:t>
            </a:r>
          </a:p>
          <a:p>
            <a:pPr algn="l" marL="219456" indent="-219456">
              <a:spcAft>
                <a:spcPts val="900"/>
              </a:spcAft>
              <a:buClr>
                <a:srgbClr val="AB3D3F"/>
              </a:buClr>
              <a:buFont typeface="Arial"/>
              <a:buChar char="•"/>
            </a:pPr>
            <a:r>
              <a:rPr sz="1400" b="0" i="0">
                <a:solidFill>
                  <a:srgbClr val="262626"/>
                </a:solidFill>
                <a:latin typeface="Candara"/>
              </a:rPr>
              <a:t>Within each region, the more cases per person a district reported, the more nets per person it gives up. Nabdam and Bole, the highest in their regions, lose 761 and 376.</a:t>
            </a:r>
          </a:p>
          <a:p>
            <a:pPr algn="l" marL="219456" indent="-219456">
              <a:spcAft>
                <a:spcPts val="900"/>
              </a:spcAft>
              <a:buClr>
                <a:srgbClr val="AB3D3F"/>
              </a:buClr>
              <a:buFont typeface="Arial"/>
              <a:buChar char="•"/>
            </a:pPr>
            <a:r>
              <a:rPr sz="1400" b="0" i="0">
                <a:solidFill>
                  <a:srgbClr val="262626"/>
                </a:solidFill>
                <a:latin typeface="Candara"/>
              </a:rPr>
              <a:t>We treat everyone in a region as equally at risk. That is a value judgement, and we make it openly.</a:t>
            </a:r>
          </a:p>
          <a:p>
            <a:pPr algn="l" marL="219456" indent="-219456">
              <a:spcAft>
                <a:spcPts val="600"/>
              </a:spcAft>
              <a:buClr>
                <a:srgbClr val="AB3D3F"/>
              </a:buClr>
              <a:buFont typeface="Arial"/>
              <a:buChar char="•"/>
            </a:pPr>
            <a:r>
              <a:rPr sz="1400" b="0" i="0">
                <a:solidFill>
                  <a:srgbClr val="262626"/>
                </a:solidFill>
                <a:latin typeface="Candara"/>
              </a:rPr>
              <a:t>Referral bias at Wa and Bolgatanga is a hypothesis, not a finding: Tamale hosts the north's only tertiary hospital yet reports the lowest rate.</a:t>
            </a:r>
          </a:p>
        </p:txBody>
      </p:sp>
      <p:graphicFrame>
        <p:nvGraphicFramePr>
          <p:cNvPr id="4" name="Chart 3"/>
          <p:cNvGraphicFramePr>
            <a:graphicFrameLocks noGrp="1"/>
          </p:cNvGraphicFramePr>
          <p:nvPr/>
        </p:nvGraphicFramePr>
        <p:xfrm>
          <a:off x="5806440" y="1325880"/>
          <a:ext cx="5852160" cy="4023360"/>
        </p:xfrm>
        <a:graphic>
          <a:graphicData uri="http://schemas.openxmlformats.org/drawingml/2006/chart">
            <c:chart xmlns:c="http://schemas.openxmlformats.org/drawingml/2006/chart" r:id="rId2"/>
          </a:graphicData>
        </a:graphic>
      </p:graphicFrame>
      <p:sp>
        <p:nvSpPr>
          <p:cNvPr id="5" name="TextBox 4"/>
          <p:cNvSpPr txBox="1"/>
          <p:nvPr/>
        </p:nvSpPr>
        <p:spPr>
          <a:xfrm>
            <a:off x="5806440" y="5394960"/>
            <a:ext cx="5852160" cy="411480"/>
          </a:xfrm>
          <a:prstGeom prst="rect">
            <a:avLst/>
          </a:prstGeom>
          <a:noFill/>
        </p:spPr>
        <p:txBody>
          <a:bodyPr wrap="square" anchor="t" lIns="0" rIns="0" tIns="0" bIns="0">
            <a:spAutoFit/>
          </a:bodyPr>
          <a:lstStyle/>
          <a:p>
            <a:pPr algn="l">
              <a:spcAft>
                <a:spcPts val="600"/>
              </a:spcAft>
            </a:pPr>
            <a:r>
              <a:rPr sz="1100" b="0" i="0">
                <a:solidFill>
                  <a:srgbClr val="595959"/>
                </a:solidFill>
                <a:latin typeface="Candara"/>
              </a:rPr>
              <a:t>Change in nets against case-proportional allocation: the five largest gains and losses.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1061243" y="571500"/>
            <a:ext cx="10067544" cy="737700"/>
          </a:xfrm>
        </p:spPr>
        <p:txBody>
          <a:bodyPr/>
          <a:lstStyle/>
          <a:p>
            <a:r>
              <a:t>What would change the answer</a:t>
            </a:r>
          </a:p>
        </p:txBody>
      </p:sp>
      <p:graphicFrame>
        <p:nvGraphicFramePr>
          <p:cNvPr id="4" name="Table 3"/>
          <p:cNvGraphicFramePr>
            <a:graphicFrameLocks noGrp="1"/>
          </p:cNvGraphicFramePr>
          <p:nvPr/>
        </p:nvGraphicFramePr>
        <p:xfrm>
          <a:off x="1060704" y="1463040"/>
          <a:ext cx="10067544" cy="3429000"/>
        </p:xfrm>
        <a:graphic>
          <a:graphicData uri="http://schemas.openxmlformats.org/drawingml/2006/table">
            <a:tbl>
              <a:tblPr firstRow="1">
                <a:tableStyleId>{5C22544A-7EE6-4342-B048-85BDC9FD1C3A}</a:tableStyleId>
              </a:tblPr>
              <a:tblGrid>
                <a:gridCol w="4946904"/>
                <a:gridCol w="1280160"/>
                <a:gridCol w="1280160"/>
                <a:gridCol w="1280160"/>
                <a:gridCol w="1280160"/>
              </a:tblGrid>
              <a:tr h="411480">
                <a:tc>
                  <a:txBody>
                    <a:bodyPr/>
                    <a:lstStyle/>
                    <a:p>
                      <a:pPr algn="l">
                        <a:spcAft>
                          <a:spcPts val="0"/>
                        </a:spcAft>
                      </a:pPr>
                      <a:r>
                        <a:rPr sz="1400" b="1" i="0">
                          <a:solidFill>
                            <a:srgbClr val="FFFFFF"/>
                          </a:solidFill>
                          <a:latin typeface="Candara"/>
                        </a:rPr>
                        <a:t>Scenario</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Northern</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East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Upper West</a:t>
                      </a:r>
                    </a:p>
                  </a:txBody>
                  <a:tcPr marL="91440" marR="91440" marT="36576" marB="36576" anchor="ctr">
                    <a:solidFill>
                      <a:srgbClr val="AB3D3F"/>
                    </a:solidFill>
                  </a:tcPr>
                </a:tc>
                <a:tc>
                  <a:txBody>
                    <a:bodyPr/>
                    <a:lstStyle/>
                    <a:p>
                      <a:pPr algn="r">
                        <a:spcAft>
                          <a:spcPts val="0"/>
                        </a:spcAft>
                      </a:pPr>
                      <a:r>
                        <a:rPr sz="1400" b="1" i="0">
                          <a:solidFill>
                            <a:srgbClr val="FFFFFF"/>
                          </a:solidFill>
                          <a:latin typeface="Candara"/>
                        </a:rPr>
                        <a:t>Nets moved</a:t>
                      </a:r>
                    </a:p>
                  </a:txBody>
                  <a:tcPr marL="91440" marR="91440" marT="36576" marB="36576" anchor="ctr">
                    <a:solidFill>
                      <a:srgbClr val="AB3D3F"/>
                    </a:solidFill>
                  </a:tcPr>
                </a:tc>
              </a:tr>
              <a:tr h="502920">
                <a:tc>
                  <a:txBody>
                    <a:bodyPr/>
                    <a:lstStyle/>
                    <a:p>
                      <a:pPr algn="l">
                        <a:spcAft>
                          <a:spcPts val="0"/>
                        </a:spcAft>
                      </a:pPr>
                      <a:r>
                        <a:rPr sz="1300" b="1" i="0">
                          <a:solidFill>
                            <a:srgbClr val="262626"/>
                          </a:solidFill>
                          <a:latin typeface="Candara"/>
                        </a:rPr>
                        <a:t>As proposed</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24,196</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18,631</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7,173</a:t>
                      </a:r>
                    </a:p>
                  </a:txBody>
                  <a:tcPr marL="91440" marR="91440" marT="36576" marB="36576" anchor="ctr">
                    <a:solidFill>
                      <a:srgbClr val="FFFFFF"/>
                    </a:solidFill>
                  </a:tcPr>
                </a:tc>
                <a:tc>
                  <a:txBody>
                    <a:bodyPr/>
                    <a:lstStyle/>
                    <a:p>
                      <a:pPr algn="r">
                        <a:spcAft>
                          <a:spcPts val="0"/>
                        </a:spcAft>
                      </a:pPr>
                      <a:r>
                        <a:rPr sz="1300" b="1" i="0">
                          <a:solidFill>
                            <a:srgbClr val="262626"/>
                          </a:solidFill>
                          <a:latin typeface="Candara"/>
                        </a:rPr>
                        <a:t>baseline</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Point estimate instead of the upper bound</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25,095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17,240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7,665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1,391</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Region-effects model (fits better: AIC 1,253.8 vs 1,286.8)</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18,634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16,473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14,893</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7,720</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Coverage corrected for the 11 districts now in Savannah or North East</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27,686</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14,891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7,423</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3,740</a:t>
                      </a:r>
                    </a:p>
                  </a:txBody>
                  <a:tcPr marL="91440" marR="91440" marT="36576" marB="36576" anchor="ctr">
                    <a:solidFill>
                      <a:srgbClr val="F3F3F3"/>
                    </a:solidFill>
                  </a:tcPr>
                </a:tc>
              </a:tr>
              <a:tr h="502920">
                <a:tc>
                  <a:txBody>
                    <a:bodyPr/>
                    <a:lstStyle/>
                    <a:p>
                      <a:pPr algn="l">
                        <a:spcAft>
                          <a:spcPts val="0"/>
                        </a:spcAft>
                      </a:pPr>
                      <a:r>
                        <a:rPr sz="1300" b="1" i="0">
                          <a:solidFill>
                            <a:srgbClr val="262626"/>
                          </a:solidFill>
                          <a:latin typeface="Candara"/>
                        </a:rPr>
                        <a:t>Northern coverage at its lower interval bound (61.4%)</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22,939</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18,596</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8,465</a:t>
                      </a:r>
                    </a:p>
                  </a:txBody>
                  <a:tcPr marL="91440" marR="91440" marT="36576" marB="36576" anchor="ctr">
                    <a:solidFill>
                      <a:srgbClr val="FFFFFF"/>
                    </a:solidFill>
                  </a:tcPr>
                </a:tc>
                <a:tc>
                  <a:txBody>
                    <a:bodyPr/>
                    <a:lstStyle/>
                    <a:p>
                      <a:pPr algn="r">
                        <a:spcAft>
                          <a:spcPts val="0"/>
                        </a:spcAft>
                      </a:pPr>
                      <a:r>
                        <a:rPr sz="1300" b="0" i="0">
                          <a:solidFill>
                            <a:srgbClr val="262626"/>
                          </a:solidFill>
                          <a:latin typeface="Candara"/>
                        </a:rPr>
                        <a:t>1,292</a:t>
                      </a:r>
                    </a:p>
                  </a:txBody>
                  <a:tcPr marL="91440" marR="91440" marT="36576" marB="36576" anchor="ctr">
                    <a:solidFill>
                      <a:srgbClr val="FFFFFF"/>
                    </a:solidFill>
                  </a:tcPr>
                </a:tc>
              </a:tr>
              <a:tr h="502920">
                <a:tc>
                  <a:txBody>
                    <a:bodyPr/>
                    <a:lstStyle/>
                    <a:p>
                      <a:pPr algn="l">
                        <a:spcAft>
                          <a:spcPts val="0"/>
                        </a:spcAft>
                      </a:pPr>
                      <a:r>
                        <a:rPr sz="1300" b="1" i="0">
                          <a:solidFill>
                            <a:srgbClr val="262626"/>
                          </a:solidFill>
                          <a:latin typeface="Candara"/>
                        </a:rPr>
                        <a:t>Northern coverage at its upper interval bound (74.0%)</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29,004</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11,951</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9,045</a:t>
                      </a:r>
                    </a:p>
                  </a:txBody>
                  <a:tcPr marL="91440" marR="91440" marT="36576" marB="36576" anchor="ctr">
                    <a:solidFill>
                      <a:srgbClr val="F3F3F3"/>
                    </a:solidFill>
                  </a:tcPr>
                </a:tc>
                <a:tc>
                  <a:txBody>
                    <a:bodyPr/>
                    <a:lstStyle/>
                    <a:p>
                      <a:pPr algn="r">
                        <a:spcAft>
                          <a:spcPts val="0"/>
                        </a:spcAft>
                      </a:pPr>
                      <a:r>
                        <a:rPr sz="1300" b="0" i="0">
                          <a:solidFill>
                            <a:srgbClr val="262626"/>
                          </a:solidFill>
                          <a:latin typeface="Candara"/>
                        </a:rPr>
                        <a:t>6,680</a:t>
                      </a:r>
                    </a:p>
                  </a:txBody>
                  <a:tcPr marL="91440" marR="91440" marT="36576" marB="36576" anchor="ctr">
                    <a:solidFill>
                      <a:srgbClr val="F3F3F3"/>
                    </a:solidFill>
                  </a:tcPr>
                </a:tc>
              </a:tr>
            </a:tbl>
          </a:graphicData>
        </a:graphic>
      </p:graphicFrame>
      <p:sp>
        <p:nvSpPr>
          <p:cNvPr id="5" name="TextBox 4"/>
          <p:cNvSpPr txBox="1"/>
          <p:nvPr/>
        </p:nvSpPr>
        <p:spPr>
          <a:xfrm>
            <a:off x="1060704" y="5029200"/>
            <a:ext cx="10067544" cy="777240"/>
          </a:xfrm>
          <a:prstGeom prst="rect">
            <a:avLst/>
          </a:prstGeom>
          <a:noFill/>
        </p:spPr>
        <p:txBody>
          <a:bodyPr wrap="square" anchor="t" lIns="0" rIns="0" tIns="0" bIns="0">
            <a:spAutoFit/>
          </a:bodyPr>
          <a:lstStyle/>
          <a:p>
            <a:pPr algn="l">
              <a:spcAft>
                <a:spcPts val="600"/>
              </a:spcAft>
            </a:pPr>
            <a:r>
              <a:rPr sz="1500" b="1" i="0">
                <a:solidFill>
                  <a:srgbClr val="AB3D3F"/>
                </a:solidFill>
                <a:latin typeface="Candara"/>
              </a:rPr>
              <a:t>Takeaway: </a:t>
            </a:r>
            <a:r>
              <a:rPr sz="1500" b="0" i="0">
                <a:solidFill>
                  <a:srgbClr val="262626"/>
                </a:solidFill>
                <a:latin typeface="Candara"/>
              </a:rPr>
              <a:t>within a region, nets follow population in every scenario except the coverage correction. The regional split is the uncertain part, so treat regional totals as a range, not a point.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rPr sz="3000"/>
              <a:t>Equity: who this helps, and who it misses</a:t>
            </a:r>
          </a:p>
        </p:txBody>
      </p:sp>
      <p:sp>
        <p:nvSpPr>
          <p:cNvPr id="3" name="Rounded Rectangle 2"/>
          <p:cNvSpPr/>
          <p:nvPr/>
        </p:nvSpPr>
        <p:spPr>
          <a:xfrm>
            <a:off x="56692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Outside the map</a:t>
            </a:r>
          </a:p>
          <a:p>
            <a:pPr algn="l">
              <a:spcAft>
                <a:spcPts val="200"/>
              </a:spcAft>
            </a:pPr>
            <a:r>
              <a:rPr sz="3000" b="1" i="0">
                <a:solidFill>
                  <a:srgbClr val="AB3D3F"/>
                </a:solidFill>
                <a:latin typeface="Candara"/>
              </a:rPr>
              <a:t>207 of 260</a:t>
            </a:r>
          </a:p>
          <a:p>
            <a:pPr algn="l">
              <a:spcAft>
                <a:spcPts val="600"/>
              </a:spcAft>
            </a:pPr>
            <a:r>
              <a:rPr sz="1300" b="0" i="0">
                <a:solidFill>
                  <a:srgbClr val="262626"/>
                </a:solidFill>
                <a:latin typeface="Candara"/>
              </a:rPr>
              <a:t>of Ghana's districts have no district case data in our package. This allocation says nothing about them and should not be stretched to them.</a:t>
            </a:r>
          </a:p>
        </p:txBody>
      </p:sp>
      <p:sp>
        <p:nvSpPr>
          <p:cNvPr id="4" name="Rounded Rectangle 3"/>
          <p:cNvSpPr/>
          <p:nvPr/>
        </p:nvSpPr>
        <p:spPr>
          <a:xfrm>
            <a:off x="6190488" y="141732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Testing access</a:t>
            </a:r>
          </a:p>
          <a:p>
            <a:pPr algn="l">
              <a:spcAft>
                <a:spcPts val="200"/>
              </a:spcAft>
            </a:pPr>
            <a:r>
              <a:rPr sz="3000" b="1" i="0">
                <a:solidFill>
                  <a:srgbClr val="AB3D3F"/>
                </a:solidFill>
                <a:latin typeface="Candara"/>
              </a:rPr>
              <a:t>65%</a:t>
            </a:r>
          </a:p>
          <a:p>
            <a:pPr algn="l">
              <a:spcAft>
                <a:spcPts val="600"/>
              </a:spcAft>
            </a:pPr>
            <a:r>
              <a:rPr sz="1300" b="0" i="0">
                <a:solidFill>
                  <a:srgbClr val="262626"/>
                </a:solidFill>
                <a:latin typeface="Candara"/>
              </a:rPr>
              <a:t>median test positivity in Northern Region, the highest of the three, yet it reports the fewest cases per person (0.27 a year, against 0.88 and 0.80). That points to under-testing, which a case-based rule would punish.</a:t>
            </a:r>
          </a:p>
        </p:txBody>
      </p:sp>
      <p:sp>
        <p:nvSpPr>
          <p:cNvPr id="5" name="Rounded Rectangle 4"/>
          <p:cNvSpPr/>
          <p:nvPr/>
        </p:nvSpPr>
        <p:spPr>
          <a:xfrm>
            <a:off x="56692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Interventions we left out</a:t>
            </a:r>
          </a:p>
          <a:p>
            <a:pPr algn="l">
              <a:spcAft>
                <a:spcPts val="200"/>
              </a:spcAft>
            </a:pPr>
            <a:r>
              <a:rPr sz="3000" b="1" i="0">
                <a:solidFill>
                  <a:srgbClr val="AB3D3F"/>
                </a:solidFill>
                <a:latin typeface="Candara"/>
              </a:rPr>
              <a:t>32 and 24</a:t>
            </a:r>
          </a:p>
          <a:p>
            <a:pPr algn="l">
              <a:spcAft>
                <a:spcPts val="600"/>
              </a:spcAft>
            </a:pPr>
            <a:r>
              <a:rPr sz="1300" b="0" i="0">
                <a:solidFill>
                  <a:srgbClr val="262626"/>
                </a:solidFill>
                <a:latin typeface="Candara"/>
              </a:rPr>
              <a:t>of the 50 districts had indoor spraying and seasonal chemoprevention in 2014-17, including every Upper East and Upper West district. Both change burden, and sprayed districts are excluded from national net campaigns.</a:t>
            </a:r>
          </a:p>
        </p:txBody>
      </p:sp>
      <p:sp>
        <p:nvSpPr>
          <p:cNvPr id="6" name="Rounded Rectangle 5"/>
          <p:cNvSpPr/>
          <p:nvPr/>
        </p:nvSpPr>
        <p:spPr>
          <a:xfrm>
            <a:off x="6190488" y="3611880"/>
            <a:ext cx="5431536" cy="2057400"/>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0"/>
              </a:spcAft>
            </a:pPr>
            <a:r>
              <a:rPr sz="1400" b="1" i="0">
                <a:solidFill>
                  <a:srgbClr val="595959"/>
                </a:solidFill>
                <a:latin typeface="Candara"/>
              </a:rPr>
              <a:t>Privacy by design</a:t>
            </a:r>
          </a:p>
          <a:p>
            <a:pPr algn="l">
              <a:spcAft>
                <a:spcPts val="200"/>
              </a:spcAft>
            </a:pPr>
            <a:r>
              <a:rPr sz="3000" b="1" i="0">
                <a:solidFill>
                  <a:srgbClr val="AB3D3F"/>
                </a:solidFill>
                <a:latin typeface="Candara"/>
              </a:rPr>
              <a:t>0</a:t>
            </a:r>
          </a:p>
          <a:p>
            <a:pPr algn="l">
              <a:spcAft>
                <a:spcPts val="600"/>
              </a:spcAft>
            </a:pPr>
            <a:r>
              <a:rPr sz="1300" b="0" i="0">
                <a:solidFill>
                  <a:srgbClr val="262626"/>
                </a:solidFill>
                <a:latin typeface="Candara"/>
              </a:rPr>
              <a:t>data files or notebook outputs in the project's git history. Licensed DHS household records stay out of git and out of this deck; everything shown is an aggregate.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571500" y="571500"/>
            <a:ext cx="11055096" cy="737700"/>
          </a:xfrm>
        </p:spPr>
        <p:txBody>
          <a:bodyPr/>
          <a:lstStyle/>
          <a:p>
            <a:r>
              <a:t>Limitations, and what we would do next</a:t>
            </a:r>
          </a:p>
        </p:txBody>
      </p:sp>
      <p:sp>
        <p:nvSpPr>
          <p:cNvPr id="3" name="Rounded Rectangle 2"/>
          <p:cNvSpPr/>
          <p:nvPr/>
        </p:nvSpPr>
        <p:spPr>
          <a:xfrm>
            <a:off x="56692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Limitations</a:t>
            </a:r>
          </a:p>
          <a:p>
            <a:pPr algn="l" marL="219456" indent="-219456">
              <a:spcAft>
                <a:spcPts val="800"/>
              </a:spcAft>
              <a:buClr>
                <a:srgbClr val="AB3D3F"/>
              </a:buClr>
              <a:buFont typeface="Arial"/>
              <a:buChar char="•"/>
            </a:pPr>
            <a:r>
              <a:rPr sz="1600" b="0" i="0">
                <a:solidFill>
                  <a:srgbClr val="262626"/>
                </a:solidFill>
                <a:latin typeface="Candara"/>
              </a:rPr>
              <a:t>11 districts coded Northern are now in Savannah (79.1% of households own a net) or North East (62.8%). Correcting this moves 3,740 nets.</a:t>
            </a:r>
          </a:p>
          <a:p>
            <a:pPr algn="l" marL="219456" indent="-219456">
              <a:spcAft>
                <a:spcPts val="800"/>
              </a:spcAft>
              <a:buClr>
                <a:srgbClr val="AB3D3F"/>
              </a:buClr>
              <a:buFont typeface="Arial"/>
              <a:buChar char="•"/>
            </a:pPr>
            <a:r>
              <a:rPr sz="1600" b="0" i="0">
                <a:solidFill>
                  <a:srgbClr val="262626"/>
                </a:solidFill>
                <a:latin typeface="Candara"/>
              </a:rPr>
              <a:t>39 of 50 districts report more than one confirmed case per resident over 2014-17: repeat episodes, care-seeking across district lines, or undercounted populations.</a:t>
            </a:r>
          </a:p>
          <a:p>
            <a:pPr algn="l" marL="219456" indent="-219456">
              <a:spcAft>
                <a:spcPts val="800"/>
              </a:spcAft>
              <a:buClr>
                <a:srgbClr val="AB3D3F"/>
              </a:buClr>
              <a:buFont typeface="Arial"/>
              <a:buChar char="•"/>
            </a:pPr>
            <a:r>
              <a:rPr sz="1600" b="0" i="0">
                <a:solidFill>
                  <a:srgbClr val="262626"/>
                </a:solidFill>
                <a:latin typeface="Candara"/>
              </a:rPr>
              <a:t>Coverage is from 2022 and cases from 2014-17.</a:t>
            </a:r>
          </a:p>
          <a:p>
            <a:pPr algn="l" marL="219456" indent="-219456">
              <a:spcAft>
                <a:spcPts val="600"/>
              </a:spcAft>
              <a:buClr>
                <a:srgbClr val="AB3D3F"/>
              </a:buClr>
              <a:buFont typeface="Arial"/>
              <a:buChar char="•"/>
            </a:pPr>
            <a:r>
              <a:rPr sz="1600" b="0" i="0">
                <a:solidFill>
                  <a:srgbClr val="262626"/>
                </a:solidFill>
                <a:latin typeface="Candara"/>
              </a:rPr>
              <a:t>The survey has no district identifier or parasitaemia data, and published ITN intervals are empty.</a:t>
            </a:r>
          </a:p>
        </p:txBody>
      </p:sp>
      <p:sp>
        <p:nvSpPr>
          <p:cNvPr id="4" name="Rounded Rectangle 3"/>
          <p:cNvSpPr/>
          <p:nvPr/>
        </p:nvSpPr>
        <p:spPr>
          <a:xfrm>
            <a:off x="6190488" y="1463040"/>
            <a:ext cx="5431536" cy="3749039"/>
          </a:xfrm>
          <a:prstGeom prst="roundRect">
            <a:avLst>
              <a:gd name="adj" fmla="val 5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0934" bIns="160934"/>
          <a:lstStyle/>
          <a:p>
            <a:pPr algn="l">
              <a:spcAft>
                <a:spcPts val="800"/>
              </a:spcAft>
            </a:pPr>
            <a:r>
              <a:rPr sz="1800" b="1" i="0">
                <a:solidFill>
                  <a:srgbClr val="AB3D3F"/>
                </a:solidFill>
                <a:latin typeface="Candara"/>
              </a:rPr>
              <a:t>Before any real distribution</a:t>
            </a:r>
          </a:p>
          <a:p>
            <a:pPr algn="l" marL="219456" indent="-219456">
              <a:spcAft>
                <a:spcPts val="1000"/>
              </a:spcAft>
              <a:buClr>
                <a:srgbClr val="AB3D3F"/>
              </a:buClr>
              <a:buFont typeface="Arial"/>
              <a:buChar char="•"/>
            </a:pPr>
            <a:r>
              <a:rPr sz="1600" b="0" i="0">
                <a:solidFill>
                  <a:srgbClr val="262626"/>
                </a:solidFill>
                <a:latin typeface="Candara"/>
              </a:rPr>
              <a:t>Refit with today's regions and district-level spraying and chemoprevention.</a:t>
            </a:r>
          </a:p>
          <a:p>
            <a:pPr algn="l" marL="219456" indent="-219456">
              <a:spcAft>
                <a:spcPts val="1000"/>
              </a:spcAft>
              <a:buClr>
                <a:srgbClr val="AB3D3F"/>
              </a:buClr>
              <a:buFont typeface="Arial"/>
              <a:buChar char="•"/>
            </a:pPr>
            <a:r>
              <a:rPr sz="1600" b="0" i="0">
                <a:solidFill>
                  <a:srgbClr val="262626"/>
                </a:solidFill>
                <a:latin typeface="Candara"/>
              </a:rPr>
              <a:t>Model risk with region effects, and use coverage only in the gap term.</a:t>
            </a:r>
          </a:p>
          <a:p>
            <a:pPr algn="l" marL="219456" indent="-219456">
              <a:spcAft>
                <a:spcPts val="1000"/>
              </a:spcAft>
              <a:buClr>
                <a:srgbClr val="AB3D3F"/>
              </a:buClr>
              <a:buFont typeface="Arial"/>
              <a:buChar char="•"/>
            </a:pPr>
            <a:r>
              <a:rPr sz="1600" b="0" i="0">
                <a:solidFill>
                  <a:srgbClr val="262626"/>
                </a:solidFill>
                <a:latin typeface="Candara"/>
              </a:rPr>
              <a:t>Validate by holding out whole regions, and report the spread across seeds.</a:t>
            </a:r>
          </a:p>
          <a:p>
            <a:pPr algn="l" marL="219456" indent="-219456">
              <a:spcAft>
                <a:spcPts val="600"/>
              </a:spcAft>
              <a:buClr>
                <a:srgbClr val="AB3D3F"/>
              </a:buClr>
              <a:buFont typeface="Arial"/>
              <a:buChar char="•"/>
            </a:pPr>
            <a:r>
              <a:rPr sz="1600" b="0" i="0">
                <a:solidFill>
                  <a:srgbClr val="262626"/>
                </a:solidFill>
                <a:latin typeface="Candara"/>
              </a:rPr>
              <a:t>Deliver through regional medical stores and CHPS compounds, then survey net use after six months.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6000"/>
              <a:t>Thank you. Questions?</a:t>
            </a:r>
          </a:p>
        </p:txBody>
      </p:sp>
      <p:sp>
        <p:nvSpPr>
          <p:cNvPr id="3" name="TextBox 2"/>
          <p:cNvSpPr txBox="1"/>
          <p:nvPr/>
        </p:nvSpPr>
        <p:spPr>
          <a:xfrm>
            <a:off x="1527048" y="5212080"/>
            <a:ext cx="9144000" cy="457200"/>
          </a:xfrm>
          <a:prstGeom prst="rect">
            <a:avLst/>
          </a:prstGeom>
          <a:noFill/>
        </p:spPr>
        <p:txBody>
          <a:bodyPr wrap="square" anchor="t" lIns="0" rIns="0" tIns="0" bIns="0">
            <a:spAutoFit/>
          </a:bodyPr>
          <a:lstStyle/>
          <a:p>
            <a:pPr algn="ctr">
              <a:spcAft>
                <a:spcPts val="600"/>
              </a:spcAft>
            </a:pPr>
            <a:r>
              <a:rPr sz="1600" b="0" i="0">
                <a:solidFill>
                  <a:srgbClr val="FEBA5A"/>
                </a:solidFill>
                <a:latin typeface="Candara"/>
              </a:rPr>
              <a:t>ICS553 Machine Learning Essentials · Group 3 · Ashesi University</a:t>
            </a:r>
          </a:p>
        </p:txBody>
      </p:sp>
      <p:sp>
        <p:nvSpPr>
          <p:cNvPr id="4" name="TextBox 3"/>
          <p:cNvSpPr txBox="1"/>
          <p:nvPr/>
        </p:nvSpPr>
        <p:spPr>
          <a:xfrm>
            <a:off x="1069848" y="5806440"/>
            <a:ext cx="10058400" cy="640080"/>
          </a:xfrm>
          <a:prstGeom prst="rect">
            <a:avLst/>
          </a:prstGeom>
          <a:noFill/>
        </p:spPr>
        <p:txBody>
          <a:bodyPr wrap="square" anchor="t" lIns="0" rIns="0" tIns="0" bIns="0">
            <a:spAutoFit/>
          </a:bodyPr>
          <a:lstStyle/>
          <a:p>
            <a:pPr algn="ctr">
              <a:spcAft>
                <a:spcPts val="600"/>
              </a:spcAft>
            </a:pPr>
            <a:r>
              <a:rPr sz="1200" b="1" i="0">
                <a:solidFill>
                  <a:srgbClr val="FEBA5A"/>
                </a:solidFill>
                <a:latin typeface="Candara"/>
              </a:rPr>
              <a:t>AI declaration: </a:t>
            </a:r>
            <a:r>
              <a:rPr sz="1200" b="0" i="0">
                <a:solidFill>
                  <a:srgbClr val="FFFFFF"/>
                </a:solidFill>
                <a:latin typeface="Candara"/>
              </a:rPr>
              <a:t>we used AI tools to help aggregate our information and to generate this presentation from our aggregated information. How AI was used is logged in the project's WORKLOG.md.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andara">
      <a:maj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ndara" panose="020E0502030303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37e7508-98d8-4d44-adcb-ef8e87c43aeb">
      <Terms xmlns="http://schemas.microsoft.com/office/infopath/2007/PartnerControls"/>
    </lcf76f155ced4ddcb4097134ff3c332f>
    <TaxCatchAll xmlns="029b47ac-dfc3-4a78-a146-9328422ffc2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64A2D7E0F094D9459F0D8AD544C81A1D" ma:contentTypeVersion="17" ma:contentTypeDescription="Create a new document." ma:contentTypeScope="" ma:versionID="acf9e738a288c12215d25aaf286ed4a9">
  <xsd:schema xmlns:xsd="http://www.w3.org/2001/XMLSchema" xmlns:xs="http://www.w3.org/2001/XMLSchema" xmlns:p="http://schemas.microsoft.com/office/2006/metadata/properties" xmlns:ns2="b37e7508-98d8-4d44-adcb-ef8e87c43aeb" xmlns:ns3="029b47ac-dfc3-4a78-a146-9328422ffc22" targetNamespace="http://schemas.microsoft.com/office/2006/metadata/properties" ma:root="true" ma:fieldsID="12a109ebfb79587208d377fc8ce12113" ns2:_="" ns3:_="">
    <xsd:import namespace="b37e7508-98d8-4d44-adcb-ef8e87c43aeb"/>
    <xsd:import namespace="029b47ac-dfc3-4a78-a146-9328422ffc2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element ref="ns2:MediaServiceObjectDetectorVersions" minOccurs="0"/>
                <xsd:element ref="ns2:MediaServiceSearchPropertie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7e7508-98d8-4d44-adcb-ef8e87c43ae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c1baf4cd-5b54-4e76-b1d9-f5b4c55054d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29b47ac-dfc3-4a78-a146-9328422ffc2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5881349-7c36-4740-adab-dba0362a694f}" ma:internalName="TaxCatchAll" ma:showField="CatchAllData" ma:web="029b47ac-dfc3-4a78-a146-9328422ffc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CCB51B8-E36A-48C6-A6A6-3F83B4595FB1}">
  <ds:schemaRefs>
    <ds:schemaRef ds:uri="http://schemas.microsoft.com/office/2006/metadata/properties"/>
    <ds:schemaRef ds:uri="http://schemas.microsoft.com/office/infopath/2007/PartnerControls"/>
    <ds:schemaRef ds:uri="b37e7508-98d8-4d44-adcb-ef8e87c43aeb"/>
    <ds:schemaRef ds:uri="029b47ac-dfc3-4a78-a146-9328422ffc22"/>
  </ds:schemaRefs>
</ds:datastoreItem>
</file>

<file path=customXml/itemProps2.xml><?xml version="1.0" encoding="utf-8"?>
<ds:datastoreItem xmlns:ds="http://schemas.openxmlformats.org/officeDocument/2006/customXml" ds:itemID="{62D7E678-0BDD-42C1-AEE2-4DC521AAA8E9}">
  <ds:schemaRefs>
    <ds:schemaRef ds:uri="http://schemas.microsoft.com/sharepoint/v3/contenttype/forms"/>
  </ds:schemaRefs>
</ds:datastoreItem>
</file>

<file path=customXml/itemProps3.xml><?xml version="1.0" encoding="utf-8"?>
<ds:datastoreItem xmlns:ds="http://schemas.openxmlformats.org/officeDocument/2006/customXml" ds:itemID="{DED6489D-29A2-4501-9B15-545B50B6290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37e7508-98d8-4d44-adcb-ef8e87c43aeb"/>
    <ds:schemaRef ds:uri="029b47ac-dfc3-4a78-a146-9328422ffc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1417</TotalTime>
  <Words>26</Words>
  <Application>Microsoft Macintosh PowerPoint</Application>
  <PresentationFormat>Widescreen</PresentationFormat>
  <Paragraphs>13</Paragraphs>
  <Slides>9</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Candara</vt:lpstr>
      <vt:lpstr>Poppins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should 50,000 bed nets go?</dc:title>
  <dc:creator>ICS553 Group 3, Ashesi University</dc:creator>
  <cp:lastModifiedBy>Ebenezer Gwumah Buckman</cp:lastModifiedBy>
  <cp:revision>4</cp:revision>
  <dcterms:created xsi:type="dcterms:W3CDTF">2026-01-29T14:22:56Z</dcterms:created>
  <dcterms:modified xsi:type="dcterms:W3CDTF">2026-02-03T17:28:44Z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0x01010064A2D7E0F094D9459F0D8AD544C81A1D</vt:lpwstr>
  </property>
</Properties>
</file>