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3D3F"/>
    <a:srgbClr val="FEB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0408"/>
    <p:restoredTop sz="94668"/>
  </p:normalViewPr>
  <p:slideViewPr>
    <p:cSldViewPr snapToGrid="0" showGuides="1">
      <p:cViewPr varScale="1">
        <p:scale>
          <a:sx n="122" d="100"/>
          <a:sy n="122" d="100"/>
        </p:scale>
        <p:origin x="976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6A6A6"/>
              </a:solidFill>
            </c:spPr>
          </c:dPt>
          <c:dPt>
            <c:idx val="1"/>
            <c:invertIfNegative val="0"/>
            <c:spPr>
              <a:solidFill>
                <a:srgbClr val="A6A6A6"/>
              </a:solidFill>
            </c:spPr>
          </c:dPt>
          <c:dPt>
            <c:idx val="2"/>
            <c:invertIfNegative val="0"/>
            <c:spPr>
              <a:solidFill>
                <a:srgbClr val="AB3D3F"/>
              </a:solidFill>
            </c:spPr>
          </c:dPt>
          <c:cat>
            <c:strRef>
              <c:f>Sheet1!$A$2:$A$4</c:f>
              <c:strCache>
                <c:ptCount val="3"/>
                <c:pt idx="0">
                  <c:v>Random split</c:v>
                </c:pt>
                <c:pt idx="1">
                  <c:v>Stratified by region</c:v>
                </c:pt>
                <c:pt idx="2">
                  <c:v>Region held out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91413</c:v>
                </c:pt>
                <c:pt idx="1">
                  <c:v>90169</c:v>
                </c:pt>
                <c:pt idx="2">
                  <c:v>365128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2626"/>
          </a:solidFill>
          <a:latin typeface="Candar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B3D3F"/>
              </a:solidFill>
            </c:spPr>
          </c:dPt>
          <c:dPt>
            <c:idx val="1"/>
            <c:invertIfNegative val="0"/>
            <c:spPr>
              <a:solidFill>
                <a:srgbClr val="AB3D3F"/>
              </a:solidFill>
            </c:spPr>
          </c:dPt>
          <c:dPt>
            <c:idx val="2"/>
            <c:invertIfNegative val="0"/>
            <c:spPr>
              <a:solidFill>
                <a:srgbClr val="AB3D3F"/>
              </a:solidFill>
            </c:spPr>
          </c:dPt>
          <c:cat>
            <c:strRef>
              <c:f>Sheet1!$A$2:$A$4</c:f>
              <c:strCache>
                <c:ptCount val="3"/>
                <c:pt idx="0">
                  <c:v>Northern (67.7%)</c:v>
                </c:pt>
                <c:pt idx="1">
                  <c:v>Upper West (69.8%)</c:v>
                </c:pt>
                <c:pt idx="2">
                  <c:v>Upper East (79.6%)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8.51</c:v>
                </c:pt>
                <c:pt idx="1">
                  <c:v>9.17</c:v>
                </c:pt>
                <c:pt idx="2">
                  <c:v>16.02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2626"/>
          </a:solidFill>
          <a:latin typeface="Candar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6A6A6"/>
              </a:solidFill>
            </c:spPr>
          </c:dPt>
          <c:dPt>
            <c:idx val="1"/>
            <c:invertIfNegative val="0"/>
            <c:spPr>
              <a:solidFill>
                <a:srgbClr val="A6A6A6"/>
              </a:solidFill>
            </c:spPr>
          </c:dPt>
          <c:dPt>
            <c:idx val="2"/>
            <c:invertIfNegative val="0"/>
            <c:spPr>
              <a:solidFill>
                <a:srgbClr val="A6A6A6"/>
              </a:solidFill>
            </c:spPr>
          </c:dPt>
          <c:dPt>
            <c:idx val="3"/>
            <c:invertIfNegative val="0"/>
            <c:spPr>
              <a:solidFill>
                <a:srgbClr val="A6A6A6"/>
              </a:solidFill>
            </c:spPr>
          </c:dPt>
          <c:dPt>
            <c:idx val="4"/>
            <c:invertIfNegative val="0"/>
            <c:spPr>
              <a:solidFill>
                <a:srgbClr val="A6A6A6"/>
              </a:solidFill>
            </c:spPr>
          </c:dPt>
          <c:dPt>
            <c:idx val="5"/>
            <c:invertIfNegative val="0"/>
            <c:spPr>
              <a:solidFill>
                <a:srgbClr val="AB3D3F"/>
              </a:solidFill>
            </c:spPr>
          </c:dPt>
          <c:dPt>
            <c:idx val="6"/>
            <c:invertIfNegative val="0"/>
            <c:spPr>
              <a:solidFill>
                <a:srgbClr val="AB3D3F"/>
              </a:solidFill>
            </c:spPr>
          </c:dPt>
          <c:dPt>
            <c:idx val="7"/>
            <c:invertIfNegative val="0"/>
            <c:spPr>
              <a:solidFill>
                <a:srgbClr val="AB3D3F"/>
              </a:solidFill>
            </c:spPr>
          </c:dPt>
          <c:dPt>
            <c:idx val="8"/>
            <c:invertIfNegative val="0"/>
            <c:spPr>
              <a:solidFill>
                <a:srgbClr val="AB3D3F"/>
              </a:solidFill>
            </c:spPr>
          </c:dPt>
          <c:dPt>
            <c:idx val="9"/>
            <c:invertIfNegative val="0"/>
            <c:spPr>
              <a:solidFill>
                <a:srgbClr val="AB3D3F"/>
              </a:solidFill>
            </c:spPr>
          </c:dPt>
          <c:cat>
            <c:strRef>
              <c:f>Sheet1!$A$2:$A$11</c:f>
              <c:strCache>
                <c:ptCount val="10"/>
                <c:pt idx="0">
                  <c:v>Wa</c:v>
                </c:pt>
                <c:pt idx="1">
                  <c:v>Nabdam</c:v>
                </c:pt>
                <c:pt idx="2">
                  <c:v>Lambussie-Karni</c:v>
                </c:pt>
                <c:pt idx="3">
                  <c:v>Bolgatanga</c:v>
                </c:pt>
                <c:pt idx="4">
                  <c:v>Sissala East</c:v>
                </c:pt>
                <c:pt idx="5">
                  <c:v>Gushiegu</c:v>
                </c:pt>
                <c:pt idx="6">
                  <c:v>West Mamprusi</c:v>
                </c:pt>
                <c:pt idx="7">
                  <c:v>East Gonja</c:v>
                </c:pt>
                <c:pt idx="8">
                  <c:v>Sagnarigu</c:v>
                </c:pt>
                <c:pt idx="9">
                  <c:v>Tamale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-1516</c:v>
                </c:pt>
                <c:pt idx="1">
                  <c:v>-761</c:v>
                </c:pt>
                <c:pt idx="2">
                  <c:v>-707</c:v>
                </c:pt>
                <c:pt idx="3">
                  <c:v>-665</c:v>
                </c:pt>
                <c:pt idx="4">
                  <c:v>-634</c:v>
                </c:pt>
                <c:pt idx="5">
                  <c:v>690</c:v>
                </c:pt>
                <c:pt idx="6">
                  <c:v>791</c:v>
                </c:pt>
                <c:pt idx="7">
                  <c:v>878</c:v>
                </c:pt>
                <c:pt idx="8">
                  <c:v>1012</c:v>
                </c:pt>
                <c:pt idx="9">
                  <c:v>1692</c:v>
                </c:pt>
              </c:numCache>
            </c:numRef>
          </c:val>
        </c:ser>
        <c:dLbls>
          <c:numFmt formatCode="+#,##0;-#,##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+#,##0;-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2626"/>
          </a:solidFill>
          <a:latin typeface="Candar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BAACF-1FE1-3041-8D48-9BE4F9D3A142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4E99A-28DC-854C-A27F-48DAC5546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70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notebooks/04_allocation.ipynb, cell alloc_cd07 (regional totals), alloc_cd11 (nets per 1,000 people) and alloc_cd13 (7,720 nets moved under the region-effects model).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Oppong et al., Malaria Journal, doi:10.1186/s12936-025-05724-9 (https://pmc.ncbi.nlm.nih.gov/articles/PMC12829291/); Ghana DHS 2022 final report FR387, Table 12.15.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17,933 households and 618 clusters: data dictionary and notebooks/02 cell cd03. 71.0% vs 66.8% (claim C-01): notebooks/01_eda.ipynb cell eda_cd05. 50 districts on 53 polygons, 207 of 260 districts without data: scripts/verify_claims.py (map join, same logic as src/viz.py). Maps: figures/b1_data_availability.png and figures/b1_district_case_rate.png from notebook 01, with their titles trimmed.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notebooks/02_distributions.ipynb cells cd09 (77,183), cd15 (442, 122,882, 278 times), cd18 (0.395), cd25 and cd26 (54,147; alpha 0.2677; AIC gap 2,393,669). Figure: figures/a3_poisson_vs_nb.png, title trimmed.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notebooks/02_distributions.ipynb cells cd31 (582 households, 20 clusters), cd33 and cd34 (15.20 vs 7.17, 2.12 times, design effect 4.50), cd37 (published ITN intervals empty, 0 of 76), cd39 (67.69% vs 67.6%). Seed spread 4.46 to 5.39 and design-based 4.18: scripts/verify_claims.py section A. Rank 10th of 16: scripts/verify_claims.py section D. Figure: figures/a4_bootstrap_ci_comparison.png, title trimmed.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notebooks/03_pipeline_leakage.ipynb cells leak_cd04 (87,144 vs 87,356), leak_cd06 (R² 1.0000 vs 0.2618), leak_cd08 (one seed), leak_cd12 (500 seeds) and leak_cd14 (whole region held out); the table itself is leak_cd10.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notebooks/03_pipeline_leakage.ipynb, cells leak_cd12 (500 seeds) and leak_cd14 (whole region held out, via io.split_data(..., hold_out=region)). Literature: Ploton et al. 2020, Nature Communications 11:4540, doi:10.1038/s41467-020-18321-y; Kattenborn et al. 2022, ISPRS Open Journal of Photogrammetry and Remote Sensing, doi:10.1016/j.ophoto.2022.100018 (up to 28% overestimation of F1-score).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Symbols: i = district (the unit); mu_i = expected confirmed cases, 2014-17 (the target); w_i = allocation weight (the metric); pop_i = population; c_i = % of homes owning a net in i's region (DHS 2022); U_i = upper 95% confidence bound for mu_i; q_i = exact share; A_i = nets.</a:t>
            </a:r>
          </a:p>
          <a:p>
            <a:r>
              <a:t>Sources: notebooks/04_allocation.ipynb cells alloc_cd05 (alpha 0.2677) and alloc_cd11 (beta_1 = +0.0823, p = 1.7e-07; U_i / mu_i = 1.198, 1.342, 1.162; nets per 1,000 people); src/models.py compute_allocation and hamilton. Coverage values: notebooks/02 cell cd06 and scripts/verify_claims.py section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cases per person and the upper-to-expected ratios 1.198, 1.342 and 1.162: notebooks/04_allocation.ipynb cell alloc_cd11. Both maps are drawn with src/viz.plot_district_choropleth from models.compute_allocation, zoomed to the north like the allocation map. The two-map layout (burden next to uncertainty) follows the course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the 50-district schedule in reports/allocation.md reproduces exactly from notebooks/04_allocation.ipynb (cells alloc_cd07 and alloc_cd09; scripts/verify_claims.py section C checks all 50 rows). Map drawn with src/viz.plot_district_choropleth from the same allocation, zoomed to the north. The three pre-2018 districts later split (Garu-Tempane, Savelugu-Nanton, Bunkpurugu-Yunyoo) show their total on both successor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gains and losses: notebooks/04_allocation.ipynb alloc_cd09; cases-per-person ranks: alloc_cd11 (Tamale lowest of 50, Nabdam highest of 50, Bole highest in its region). Ghana's ITN strategy: PMI Ghana Malaria Operational Plan FY2017. Tamale Teaching Hospital as the only tertiary provider for the three northern regions: https://tth.gov.gh/about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notebooks/04_allocation.ipynb cell alloc_cd13, which also prints the coverage it uses (Savannah 79.1%, North East 62.8%; published 79.1% and 62.6%, GDHS 2022 Table 12.1) and the Northern cluster-bootstrap bounds 61.4% and 74.0% (as in notebooks/02 cell cd39).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207 of 260 districts: scripts/verify_claims.py (map join). Test positivity and cases per person by region: scripts/verify_claims.py section E. Spraying and chemoprevention counts: scripts/verify_claims.py section E, from the raw surveillance workbook in the course data package (these columns are not in the curated district file). Campaign rules: PMI Ghana Malaria Operational Plan FY2017. Privacy: git history holds no data files and no notebook outputs (checked 2026-09-22).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11 districts, 3,740 nets, 79.1% and 62.8%: notebooks/04_allocation.ipynb alloc_cd13. 39 of 50 districts: scripts/verify_claims.py section E. Empty ITN intervals: notebooks/02 cell cd37. No district identifier or parasitaemia: notebooks/02 cell cd06.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each reference was checked on 25 September 2026 against the source itself: DOIs and journal details, the publishers' own recommended citations, and the passages the deck relies on (reports/claims_table.md, rows E-01 to E-05).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footnote is the group's AI declaration. Each member's own AI-use declaration is part of their individual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902EB5-2D68-7C82-2B73-622445F073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277618" cy="6858000"/>
          </a:xfrm>
          <a:prstGeom prst="rect">
            <a:avLst/>
          </a:prstGeom>
          <a:solidFill>
            <a:srgbClr val="AB3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B8DB6-0644-6D85-CE40-32DB5FC894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646345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F9ADF-AB1D-D8EF-C0DC-CC65B87FEC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26020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EBA5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presenter/Presentation Theme</a:t>
            </a:r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40E5B89-BE2A-8897-9C51-87939D7AC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8464" y="612116"/>
            <a:ext cx="2280690" cy="17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6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902EB5-2D68-7C82-2B73-622445F073EF}"/>
              </a:ext>
            </a:extLst>
          </p:cNvPr>
          <p:cNvSpPr>
            <a:spLocks/>
          </p:cNvSpPr>
          <p:nvPr userDrawn="1"/>
        </p:nvSpPr>
        <p:spPr>
          <a:xfrm>
            <a:off x="6519862" y="0"/>
            <a:ext cx="5757755" cy="6858000"/>
          </a:xfrm>
          <a:prstGeom prst="rect">
            <a:avLst/>
          </a:prstGeom>
          <a:solidFill>
            <a:srgbClr val="AB3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EEFFD5-8D2F-6A6F-D9D7-941FC95C9A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9863" y="0"/>
            <a:ext cx="575786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3FB70-BBA1-C271-9855-4C1FF207E3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1888095"/>
            <a:ext cx="5100639" cy="3571875"/>
          </a:xfrm>
        </p:spPr>
        <p:txBody>
          <a:bodyPr/>
          <a:lstStyle>
            <a:lvl1pPr marL="9525" indent="-952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tx1"/>
                </a:solidFill>
              </a:defRPr>
            </a:lvl1pPr>
            <a:lvl2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2pPr>
            <a:lvl3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4pPr>
            <a:lvl5pPr marL="234950" indent="-2349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tellus.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Pellentesque habitant morbi tristique senectus et netus et malesuada fames ac turpis egestas. Proin pharetra nonummy pede. Mauris et orci.</a:t>
            </a:r>
          </a:p>
          <a:p>
            <a:pPr lvl="0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5178F-B3E4-F499-8725-5BB0E2121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571500"/>
            <a:ext cx="5366963" cy="825785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Page Title Goes Here</a:t>
            </a:r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E7071D51-2DED-DED6-4D8B-311C90842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1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+tex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08DBBC-2EEC-3B63-D7C7-7266B52116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1718251"/>
            <a:ext cx="5099050" cy="3853874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Nunc </a:t>
            </a:r>
            <a:r>
              <a:rPr lang="en-US" dirty="0"/>
              <a:t>viverra imperdiet enim. Fusce est. Vivamus a </a:t>
            </a:r>
            <a:r>
              <a:rPr lang="en-US" dirty="0" err="1"/>
              <a:t>tellus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morbi tristique senectus et netus et malesuada fames ac turpis egestas.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B79326-57CB-B585-F8AA-E3AE38C62A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571500"/>
            <a:ext cx="5839574" cy="737700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Page Title Goes Here</a:t>
            </a:r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2C7AA65B-40A4-C038-8C70-8C73E9A7E96A}"/>
              </a:ext>
            </a:extLst>
          </p:cNvPr>
          <p:cNvSpPr>
            <a:spLocks noGrp="1"/>
          </p:cNvSpPr>
          <p:nvPr>
            <p:ph type="clipArt" sz="quarter" idx="12"/>
          </p:nvPr>
        </p:nvSpPr>
        <p:spPr>
          <a:xfrm>
            <a:off x="6637338" y="571500"/>
            <a:ext cx="4983162" cy="498316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8BA22CA2-7FB6-DBFF-30E0-A66D4015C8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44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5178F-B3E4-F499-8725-5BB0E2121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571500"/>
            <a:ext cx="5839574" cy="737700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Page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5375A8-91AB-0E93-E5FB-EC93D13BA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00" y="1705831"/>
            <a:ext cx="5325866" cy="3866294"/>
          </a:xfrm>
        </p:spPr>
        <p:txBody>
          <a:bodyPr numCol="1">
            <a:noAutofit/>
          </a:bodyPr>
          <a:lstStyle>
            <a:lvl1pPr marL="9525" indent="0">
              <a:lnSpc>
                <a:spcPct val="100000"/>
              </a:lnSpc>
              <a:spcBef>
                <a:spcPts val="200"/>
              </a:spcBef>
              <a:buNone/>
              <a:tabLst/>
              <a:defRPr sz="2000"/>
            </a:lvl1pPr>
            <a:lvl2pPr marL="9525" indent="0">
              <a:buNone/>
              <a:tabLst/>
              <a:defRPr/>
            </a:lvl2pPr>
            <a:lvl3pPr marL="9525" indent="0">
              <a:buNone/>
              <a:tabLst/>
              <a:defRPr/>
            </a:lvl3pPr>
            <a:lvl4pPr marL="9525" indent="0">
              <a:buNone/>
              <a:tabLst/>
              <a:defRPr/>
            </a:lvl4pPr>
            <a:lvl5pPr marL="9525" indent="0"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tellus.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Pellentesque habitant morbi tristique senectus et netus et malesuada fames ac turpis egestas. 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959AB93-84F2-5EFC-AA67-B631245F3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1074" y="1705831"/>
            <a:ext cx="5209426" cy="3866294"/>
          </a:xfrm>
        </p:spPr>
        <p:txBody>
          <a:bodyPr numCol="1">
            <a:noAutofit/>
          </a:bodyPr>
          <a:lstStyle>
            <a:lvl1pPr marL="9525" indent="0">
              <a:lnSpc>
                <a:spcPct val="100000"/>
              </a:lnSpc>
              <a:spcBef>
                <a:spcPts val="200"/>
              </a:spcBef>
              <a:buNone/>
              <a:tabLst/>
              <a:defRPr sz="2000"/>
            </a:lvl1pPr>
            <a:lvl2pPr marL="9525" indent="0">
              <a:buNone/>
              <a:tabLst/>
              <a:defRPr/>
            </a:lvl2pPr>
            <a:lvl3pPr marL="9525" indent="0">
              <a:buNone/>
              <a:tabLst/>
              <a:defRPr/>
            </a:lvl3pPr>
            <a:lvl4pPr marL="9525" indent="0">
              <a:buNone/>
              <a:tabLst/>
              <a:defRPr/>
            </a:lvl4pPr>
            <a:lvl5pPr marL="9525" indent="0"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tellus.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Pellentesque habitant morbi tristique senectus et netus et malesuada fames ac turpis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pic>
        <p:nvPicPr>
          <p:cNvPr id="2" name="Picture 1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1F06BF25-D7FE-588C-3AF2-B632FFF7FC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36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5178F-B3E4-F499-8725-5BB0E2121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6213" y="2714625"/>
            <a:ext cx="5839574" cy="866882"/>
          </a:xfrm>
        </p:spPr>
        <p:txBody>
          <a:bodyPr>
            <a:noAutofit/>
          </a:bodyPr>
          <a:lstStyle>
            <a:lvl1pPr marL="9525" indent="-9525" algn="ctr">
              <a:buNone/>
              <a:tabLst/>
              <a:defRPr sz="40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Section 1</a:t>
            </a:r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C7E7E30D-48A9-0F2C-D52B-0DCE97DD8D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8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+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1E0C39-5847-34EA-6718-F8C2CDEBD6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018" y="571500"/>
            <a:ext cx="3540125" cy="35718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F0386ED-403C-9CE4-79D4-FB74F6612B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32552" y="571500"/>
            <a:ext cx="3540125" cy="35718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DFF1C96-1D9C-0242-A355-B902B1CB68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75087" y="571500"/>
            <a:ext cx="3540125" cy="35718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36654BE-A652-EA96-9C4B-5654EE38EE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538" y="4346575"/>
            <a:ext cx="3321174" cy="1225550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0E8F210-ED7A-42FC-153F-7FB4542F9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2799" y="4346575"/>
            <a:ext cx="3321174" cy="1225550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FC5AF15-335B-D159-89A8-60AC7CBF53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5059" y="4346575"/>
            <a:ext cx="3321174" cy="1225550"/>
          </a:xfrm>
        </p:spPr>
        <p:txBody>
          <a:bodyPr/>
          <a:lstStyle>
            <a:lvl1pPr marL="9525" indent="-9525">
              <a:buNone/>
              <a:tabLst/>
              <a:defRPr sz="2000"/>
            </a:lvl1pPr>
            <a:lvl2pPr marL="9525" indent="-9525">
              <a:buNone/>
              <a:tabLst/>
              <a:defRPr sz="2000"/>
            </a:lvl2pPr>
            <a:lvl3pPr marL="9525" indent="-9525">
              <a:buNone/>
              <a:tabLst/>
              <a:defRPr sz="2000"/>
            </a:lvl3pPr>
            <a:lvl4pPr marL="9525" indent="-9525">
              <a:buNone/>
              <a:tabLst/>
              <a:defRPr sz="2000"/>
            </a:lvl4pPr>
            <a:lvl5pPr marL="9525" indent="-9525">
              <a:buNone/>
              <a:tabLst/>
              <a:defRPr sz="2000"/>
            </a:lvl5pPr>
          </a:lstStyle>
          <a:p>
            <a:pPr lvl="0"/>
            <a:r>
              <a:rPr lang="en-US" dirty="0"/>
              <a:t>Lorem ipsum dolor sit amet, consectetuer adipiscing elit.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endParaRPr lang="en-US" dirty="0"/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251C0F5F-3286-C730-7CFD-3A9657C63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44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2A1B0E3B-CBB4-E674-936A-616C314721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7E89B82-9448-D70A-2D25-DB4A33CA745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61243" y="1500745"/>
            <a:ext cx="10069513" cy="40100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90E73F1-F338-E722-E17F-FDC88F6C1B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1243" y="571500"/>
            <a:ext cx="5839574" cy="737700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3200" b="1" i="0">
                <a:solidFill>
                  <a:srgbClr val="AB3D3F"/>
                </a:solidFill>
                <a:latin typeface="Poppins" pitchFamily="2" charset="77"/>
                <a:cs typeface="Poppins" pitchFamily="2" charset="77"/>
              </a:defRPr>
            </a:lvl1pPr>
            <a:lvl2pPr marL="9525" indent="-9525">
              <a:buNone/>
              <a:tabLst/>
              <a:defRPr>
                <a:solidFill>
                  <a:srgbClr val="FEBA5A"/>
                </a:solidFill>
              </a:defRPr>
            </a:lvl2pPr>
            <a:lvl3pPr marL="9525" indent="-9525">
              <a:buNone/>
              <a:tabLst/>
              <a:defRPr>
                <a:solidFill>
                  <a:srgbClr val="FEBA5A"/>
                </a:solidFill>
              </a:defRPr>
            </a:lvl3pPr>
            <a:lvl4pPr marL="9525" indent="-9525">
              <a:buNone/>
              <a:tabLst/>
              <a:defRPr>
                <a:solidFill>
                  <a:srgbClr val="FEBA5A"/>
                </a:solidFill>
              </a:defRPr>
            </a:lvl4pPr>
            <a:lvl5pPr marL="9525" indent="-9525">
              <a:buNone/>
              <a:tabLst/>
              <a:defRPr>
                <a:solidFill>
                  <a:srgbClr val="FEBA5A"/>
                </a:solidFill>
              </a:defRPr>
            </a:lvl5pPr>
          </a:lstStyle>
          <a:p>
            <a:pPr lvl="0"/>
            <a:r>
              <a:rPr lang="en-US" dirty="0"/>
              <a:t>Table Title Goes Here</a:t>
            </a:r>
          </a:p>
        </p:txBody>
      </p:sp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D9970793-154C-FF6F-4959-1A421E973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019" y="5950781"/>
            <a:ext cx="1872037" cy="71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55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902EB5-2D68-7C82-2B73-622445F073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277618" cy="6858000"/>
          </a:xfrm>
          <a:prstGeom prst="rect">
            <a:avLst/>
          </a:prstGeom>
          <a:solidFill>
            <a:srgbClr val="AB3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B8DB6-0644-6D85-CE40-32DB5FC894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567352"/>
            <a:ext cx="9144000" cy="2387600"/>
          </a:xfrm>
        </p:spPr>
        <p:txBody>
          <a:bodyPr anchor="ctr">
            <a:normAutofit/>
          </a:bodyPr>
          <a:lstStyle>
            <a:lvl1pPr algn="ctr">
              <a:defRPr sz="72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7D2CF73-6B55-FE59-781B-E23748870E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8464" y="612116"/>
            <a:ext cx="2280690" cy="17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2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05699-92A5-EB03-A586-D694772C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DCB07-5550-B2DC-9B59-357D44D1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1CA2F-0E68-75F8-D4DA-0DEA79DFB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04F34-8FD2-3341-B014-12F06072F6DE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7ED29-C1D1-ECD5-F311-2A4049F5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219D1-0A90-0688-51B4-795893344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15B29-94FF-B045-94DC-8D21B6115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1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6" r:id="rId7"/>
    <p:sldLayoutId id="2147483657" r:id="rId8"/>
    <p:sldLayoutId id="214748365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/>
              <a:t>Where should 50,000 bed nets go?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1000"/>
              </a:spcAft>
            </a:pPr>
            <a:r>
              <a:rPr sz="2200" b="0" i="0">
                <a:solidFill>
                  <a:srgbClr val="FEBA5A"/>
                </a:solidFill>
                <a:latin typeface="Candara"/>
              </a:rPr>
              <a:t>Allocating bed nets across northern Ghana, with honest uncertainty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ndara"/>
              </a:rPr>
              <a:t>Advisory briefing for the National Malaria Elimination Programme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ndara"/>
              </a:rPr>
              <a:t>ICS553 Machine Learning Essentials · Group 3 · Ashesi University · 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Our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110550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62626"/>
                </a:solidFill>
                <a:latin typeface="Candara"/>
              </a:rPr>
              <a:t>For a 50,000-net consignment to the three northern regions: </a:t>
            </a:r>
            <a:r>
              <a:rPr sz="1800" b="1" i="0">
                <a:solidFill>
                  <a:srgbClr val="262626"/>
                </a:solidFill>
                <a:latin typeface="Candara"/>
              </a:rPr>
              <a:t>allocate within each region in proportion to population</a:t>
            </a:r>
            <a:r>
              <a:rPr sz="1800" b="0" i="0">
                <a:solidFill>
                  <a:srgbClr val="262626"/>
                </a:solidFill>
                <a:latin typeface="Candara"/>
              </a:rPr>
              <a:t>, with regional totals from our negative binomial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423160"/>
            <a:ext cx="3502152" cy="2057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0934" bIns="160934"/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AB3D3F"/>
                </a:solidFill>
                <a:latin typeface="Candara"/>
              </a:rPr>
              <a:t>24,196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62626"/>
                </a:solidFill>
                <a:latin typeface="Candara"/>
              </a:rPr>
              <a:t>nets for Northern Region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andara"/>
              </a:rPr>
              <a:t>26 districts · 8.5 nets per 1,000 people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423160"/>
            <a:ext cx="3502152" cy="2057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0934" bIns="160934"/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AB3D3F"/>
                </a:solidFill>
                <a:latin typeface="Candara"/>
              </a:rPr>
              <a:t>18,631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62626"/>
                </a:solidFill>
                <a:latin typeface="Candara"/>
              </a:rPr>
              <a:t>nets for Upper East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andara"/>
              </a:rPr>
              <a:t>13 districts · 16.0 nets per 1,000 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1" y="2423160"/>
            <a:ext cx="3502152" cy="2057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0934" bIns="160934"/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AB3D3F"/>
                </a:solidFill>
                <a:latin typeface="Candara"/>
              </a:rPr>
              <a:t>7,173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62626"/>
                </a:solidFill>
                <a:latin typeface="Candara"/>
              </a:rPr>
              <a:t>nets for Upper West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andara"/>
              </a:rPr>
              <a:t>11 districts · 9.2 nets per 1,000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63440"/>
            <a:ext cx="110550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B3D3F"/>
                </a:solidFill>
                <a:latin typeface="Candara"/>
              </a:rPr>
              <a:t>Why population within a region: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net coverage is measured once per region, so our data cannot tell two districts in the same region apart.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B3D3F"/>
                </a:solidFill>
                <a:latin typeface="Candara"/>
              </a:rPr>
              <a:t>How sure we are: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the shares within each region are robust. The regional totals are our base case: a better-fitting model moves 7,720 nets between regions (slide 13).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Averages hide local risk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55448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19456" bIns="219456"/>
          <a:lstStyle/>
          <a:p>
            <a:pPr algn="l">
              <a:spcAft>
                <a:spcPts val="400"/>
              </a:spcAft>
            </a:pPr>
            <a:r>
              <a:rPr sz="6600" b="1" i="0">
                <a:solidFill>
                  <a:srgbClr val="AB3D3F"/>
                </a:solidFill>
                <a:latin typeface="Candara"/>
              </a:rPr>
              <a:t>2%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62626"/>
                </a:solidFill>
                <a:latin typeface="Candara"/>
              </a:rPr>
              <a:t>Greater Accra malaria prevalence, 2022 DHS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andara"/>
              </a:rPr>
              <a:t>Children 6 to 59 months, microscopy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27064" y="155448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19456" bIns="219456"/>
          <a:lstStyle/>
          <a:p>
            <a:pPr algn="l">
              <a:spcAft>
                <a:spcPts val="400"/>
              </a:spcAft>
            </a:pPr>
            <a:r>
              <a:rPr sz="6600" b="1" i="0">
                <a:solidFill>
                  <a:srgbClr val="AB3D3F"/>
                </a:solidFill>
                <a:latin typeface="Candara"/>
              </a:rPr>
              <a:t>0 to 49%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62626"/>
                </a:solidFill>
                <a:latin typeface="Candara"/>
              </a:rPr>
              <a:t>Predicted prevalence across all 29 Greater Accra districts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andara"/>
              </a:rPr>
              <a:t>2020 household survey and geostatistical model, children 6 months to 10 years, rapid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9160"/>
            <a:ext cx="110550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Candara"/>
              </a:rPr>
              <a:t>Different ages and tests, so this is not like for like. The point is the spread: one regional figure can hide districts at very high risk. That is why we wanted district-level targeting; the next slide shows how far our data allow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Our data, and where it is thin</a:t>
            </a:r>
          </a:p>
        </p:txBody>
      </p:sp>
      <p:pic>
        <p:nvPicPr>
          <p:cNvPr id="3" name="Picture 2" descr="b1_data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79" y="1417320"/>
            <a:ext cx="2907416" cy="3611880"/>
          </a:xfrm>
          <a:prstGeom prst="rect">
            <a:avLst/>
          </a:prstGeom>
        </p:spPr>
      </p:pic>
      <p:pic>
        <p:nvPicPr>
          <p:cNvPr id="4" name="Picture 3" descr="b1_district_cas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671" y="1417320"/>
            <a:ext cx="2646072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12064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62626"/>
                </a:solidFill>
                <a:latin typeface="Candara"/>
              </a:rPr>
              <a:t>Household survey, DHS 2022. </a:t>
            </a:r>
            <a:r>
              <a:rPr sz="1200" b="0" i="0">
                <a:solidFill>
                  <a:srgbClr val="262626"/>
                </a:solidFill>
                <a:latin typeface="Candara"/>
              </a:rPr>
              <a:t>17,933 households in 618 clusters, all 16 regions; no district identifier.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512064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62626"/>
                </a:solidFill>
                <a:latin typeface="Candara"/>
              </a:rPr>
              <a:t>Routine surveillance, 2014-17. </a:t>
            </a:r>
            <a:r>
              <a:rPr sz="1200" b="0" i="0">
                <a:solidFill>
                  <a:srgbClr val="262626"/>
                </a:solidFill>
                <a:latin typeface="Candara"/>
              </a:rPr>
              <a:t>Cases for 50 northern districts only; 207 of today's 260 districts have none in our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986784" cy="4343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AB3D3F"/>
                </a:solidFill>
                <a:latin typeface="Candara"/>
              </a:rPr>
              <a:t>What this means</a:t>
            </a:r>
          </a:p>
          <a:p>
            <a:pPr algn="l" marL="219456" indent="-219456">
              <a:spcAft>
                <a:spcPts val="800"/>
              </a:spcAft>
              <a:buClr>
                <a:srgbClr val="AB3D3F"/>
              </a:buClr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ndara"/>
              </a:rPr>
              <a:t>Weights matter.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Unweighted, 71.0% of households own a net; weighted, 66.8%.</a:t>
            </a:r>
          </a:p>
          <a:p>
            <a:pPr algn="l" marL="219456" indent="-219456">
              <a:spcAft>
                <a:spcPts val="800"/>
              </a:spcAft>
              <a:buClr>
                <a:srgbClr val="AB3D3F"/>
              </a:buClr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ndara"/>
              </a:rPr>
              <a:t>Different years.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Net coverage is from 2022; cases are from 2014-17.</a:t>
            </a:r>
          </a:p>
          <a:p>
            <a:pPr algn="l" marL="219456" indent="-219456">
              <a:spcAft>
                <a:spcPts val="800"/>
              </a:spcAft>
              <a:buClr>
                <a:srgbClr val="AB3D3F"/>
              </a:buClr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ndara"/>
              </a:rPr>
              <a:t>Coarse coverage.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Coverage is known only by region: three values for 50 districts.</a:t>
            </a:r>
          </a:p>
          <a:p>
            <a:pPr algn="l" marL="219456" indent="-219456">
              <a:spcAft>
                <a:spcPts val="1200"/>
              </a:spcAft>
              <a:buClr>
                <a:srgbClr val="AB3D3F"/>
              </a:buClr>
              <a:buFont typeface="Arial"/>
              <a:buChar char="•"/>
            </a:pPr>
            <a:r>
              <a:rPr sz="1500" b="1" i="0">
                <a:solidFill>
                  <a:srgbClr val="262626"/>
                </a:solidFill>
                <a:latin typeface="Candara"/>
              </a:rPr>
              <a:t>No district survey data.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The survey can rank regions, not districts.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B3D3F"/>
                </a:solidFill>
                <a:latin typeface="Candara"/>
              </a:rPr>
              <a:t>So: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our rule, expected cases × the share of households without a net, can separate regions but not districts within a region.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rPr sz="3000"/>
              <a:t>Case counts vary far more than Poisson allows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AB3D3F"/>
                </a:solidFill>
                <a:latin typeface="Candara"/>
              </a:rPr>
              <a:t>77,183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Candara"/>
              </a:rPr>
              <a:t>variance-to-mean ratio of district case counts; a Poisson model requires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487168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AB3D3F"/>
                </a:solidFill>
                <a:latin typeface="Candara"/>
              </a:rPr>
              <a:t>442 vs 122,882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Candara"/>
              </a:rPr>
              <a:t>spread a Poisson implies (standard deviation) against what we observe: 278 times too narrow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11296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AB3D3F"/>
                </a:solidFill>
                <a:latin typeface="Candara"/>
              </a:rPr>
              <a:t>54,147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Candara"/>
              </a:rPr>
              <a:t>dispersion left after adjusting for population (Pearson chi-square per degree of freedom)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61772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0934" bIns="160934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B3D3F"/>
                </a:solidFill>
                <a:latin typeface="Candara"/>
              </a:rPr>
              <a:t>Working model: negative binomial. </a:t>
            </a:r>
            <a:r>
              <a:rPr sz="1400" b="0" i="0">
                <a:solidFill>
                  <a:srgbClr val="262626"/>
                </a:solidFill>
                <a:latin typeface="Candara"/>
              </a:rPr>
              <a:t>Dispersion α = 0.268 with a population offset; it beats Poisson by 2.39 million AIC points.</a:t>
            </a:r>
          </a:p>
        </p:txBody>
      </p:sp>
      <p:pic>
        <p:nvPicPr>
          <p:cNvPr id="7" name="Picture 6" descr="a3_poisson_vs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75586"/>
            <a:ext cx="5943600" cy="3478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53035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Candara"/>
              </a:rPr>
              <a:t>50 districts, 2014-17. Curves fitted without covariates, so the negative binomial here uses α = 0.395.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Survey intervals must respect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63040"/>
            <a:ext cx="51206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62626"/>
                </a:solidFill>
                <a:latin typeface="Candara"/>
              </a:rPr>
              <a:t>Households in one cluster share a village, water sources and the last net campaign, so they are not independent.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AB3D3F"/>
                </a:solidFill>
                <a:latin typeface="Candara"/>
              </a:rPr>
              <a:t>15.2 vs 7.2 points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62626"/>
                </a:solidFill>
                <a:latin typeface="Candara"/>
              </a:rPr>
              <a:t>Width of the 95% interval for rural Northern net ownership (76.0%): cluster bootstrap against a naive household bootstrap. The honest interval is 2.1 times wider.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AB3D3F"/>
                </a:solidFill>
                <a:latin typeface="Candara"/>
              </a:rPr>
              <a:t>Design effect about 4.5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62626"/>
                </a:solidFill>
                <a:latin typeface="Candara"/>
              </a:rPr>
              <a:t>The survey holds the information of a simple random sample about a quarter its size (4.5 to 5.4 across seeds; 4.2 by a design-based formula).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AB3D3F"/>
                </a:solidFill>
                <a:latin typeface="Candara"/>
              </a:rPr>
              <a:t>0.09 points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Candara"/>
              </a:rPr>
              <a:t>Our weighted estimate for Northern Region against the published DHS figure (67.69% vs 67.60%). This checks our weighting, not our interval: the published ITN intervals are empty.</a:t>
            </a:r>
          </a:p>
        </p:txBody>
      </p:sp>
      <p:pic>
        <p:nvPicPr>
          <p:cNvPr id="4" name="Picture 3" descr="a4_bootstrap_c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52582"/>
            <a:ext cx="5669280" cy="24041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475488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Candara"/>
              </a:rPr>
              <a:t>Rural Northern Region: 582 households in 20 clusters, 2,000 replicates, seed 42. Chosen for its link to our districts; it ranks 10th of 16 regions by rural clusters, so it is not the most under-sampled.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1061243" y="571500"/>
            <a:ext cx="10067544" cy="737700"/>
          </a:xfrm>
        </p:spPr>
        <p:txBody>
          <a:bodyPr/>
          <a:lstStyle/>
          <a:p>
            <a:r>
              <a:rPr sz="3000"/>
              <a:t>Leakage audit: what held up, and what did not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0704" y="1463040"/>
          <a:ext cx="10067544" cy="3794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2606040"/>
                <a:gridCol w="2606040"/>
                <a:gridCol w="3255264"/>
              </a:tblGrid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ndara"/>
                        </a:rPr>
                        <a:t>Leak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ndara"/>
                        </a:rPr>
                        <a:t>Broken version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ndara"/>
                        </a:rPr>
                        <a:t>Disciplined version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ndara"/>
                        </a:rPr>
                        <a:t>What we found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62626"/>
                          </a:solidFill>
                          <a:latin typeface="Candara"/>
                        </a:rPr>
                        <a:t>Preprocessing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Scaler fitted on all 50 districts before splitting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Scaler fitted inside a Pipeline, on training districts only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Real mechanism, negligible here: 212 cases at seed 42, 44 on average over 500 seeds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62626"/>
                          </a:solidFill>
                          <a:latin typeface="Candara"/>
                        </a:rPr>
                        <a:t>Target encoding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Each district encoded with its own case count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Only features that do not use the outcome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Test R² of 1.00 against 0.26: the feature is the answer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62626"/>
                          </a:solidFill>
                          <a:latin typeface="Candara"/>
                        </a:rPr>
                        <a:t>Spatial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Random split, or random split stratified by region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Whole region held out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Random and stratified splits agree (about 90,000); a held-out region gives 365,128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62626"/>
                          </a:solidFill>
                          <a:latin typeface="Candara"/>
                        </a:rPr>
                        <a:t>Temporal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2022 coverage used to explain 2014-17 cases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Documented; not read causally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ndara"/>
                        </a:rPr>
                        <a:t>The coverage coefficient reflects region, not the effect of nets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Only a held-out region tests new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47548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2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A split stratified by region still puts each test district's neighbors in the training set.</a:t>
            </a:r>
          </a:p>
          <a:p>
            <a:pPr algn="l" marL="219456" indent="-219456">
              <a:spcAft>
                <a:spcPts val="12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Across 500 random seeds, random and region-stratified splits give the same test error.</a:t>
            </a:r>
          </a:p>
          <a:p>
            <a:pPr algn="l" marL="219456" indent="-219456">
              <a:spcAft>
                <a:spcPts val="12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Train on two regions, predict the third, and the error is four times larger.</a:t>
            </a:r>
          </a:p>
          <a:p>
            <a:pPr algn="l" marL="219456" indent="-219456">
              <a:spcAft>
                <a:spcPts val="6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So, the model cannot yet rank districts in a region it has not seen, such as the 207 districts outside our data.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577840" y="1371600"/>
          <a:ext cx="60350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77840" y="530352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Candara"/>
              </a:rPr>
              <a:t>Test RMSE in confirmed cases, Ridge model from notebook 03. Random splits: median of 500 seeds. Held out: Northern 272,529, Upper East 589,777, Upper West 139,143.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What our rule does with 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62636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B3D3F"/>
                </a:solidFill>
                <a:latin typeface="Candara"/>
              </a:rPr>
              <a:t>The rule, for each district i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Cambria Math"/>
              </a:rPr>
              <a:t>log μ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800" b="0" i="0">
                <a:solidFill>
                  <a:srgbClr val="262626"/>
                </a:solidFill>
                <a:latin typeface="Cambria Math"/>
              </a:rPr>
              <a:t> = log pop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800" b="0" i="0">
                <a:solidFill>
                  <a:srgbClr val="262626"/>
                </a:solidFill>
                <a:latin typeface="Cambria Math"/>
              </a:rPr>
              <a:t> + β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0</a:t>
            </a:r>
            <a:r>
              <a:rPr sz="1800" b="0" i="0">
                <a:solidFill>
                  <a:srgbClr val="262626"/>
                </a:solidFill>
                <a:latin typeface="Cambria Math"/>
              </a:rPr>
              <a:t> + β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1</a:t>
            </a:r>
            <a:r>
              <a:rPr sz="1800" b="0" i="0">
                <a:solidFill>
                  <a:srgbClr val="262626"/>
                </a:solidFill>
                <a:latin typeface="Cambria Math"/>
              </a:rPr>
              <a:t> c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i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62626"/>
                </a:solidFill>
                <a:latin typeface="Cambria Math"/>
              </a:rPr>
              <a:t>w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800" b="0" i="0">
                <a:solidFill>
                  <a:srgbClr val="262626"/>
                </a:solidFill>
                <a:latin typeface="Cambria Math"/>
              </a:rPr>
              <a:t> = U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800" b="0" i="0">
                <a:solidFill>
                  <a:srgbClr val="262626"/>
                </a:solidFill>
                <a:latin typeface="Cambria Math"/>
              </a:rPr>
              <a:t> × (1 − c</a:t>
            </a:r>
            <a:r>
              <a:rPr baseline="-25000" sz="18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800" b="0" i="0">
                <a:solidFill>
                  <a:srgbClr val="262626"/>
                </a:solidFill>
                <a:latin typeface="Cambria Math"/>
              </a:rPr>
              <a:t> / 100)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Cambria Math"/>
              </a:rPr>
              <a:t>q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 = 50,000 × w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 / Σ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j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 w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j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,   A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 = ⌊q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⌋ or ⌊q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⌋ + 1,   Σ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 A</a:t>
            </a:r>
            <a:r>
              <a:rPr baseline="-25000" sz="1500" b="0" i="0">
                <a:solidFill>
                  <a:srgbClr val="262626"/>
                </a:solidFill>
                <a:latin typeface="Cambria Math"/>
              </a:rPr>
              <a:t>i</a:t>
            </a:r>
            <a:r>
              <a:rPr sz="1500" b="0" i="0">
                <a:solidFill>
                  <a:srgbClr val="262626"/>
                </a:solidFill>
                <a:latin typeface="Cambria Math"/>
              </a:rPr>
              <a:t> = 50,000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595959"/>
                </a:solidFill>
                <a:latin typeface="Candara"/>
              </a:rPr>
              <a:t>Unit: district i. Target: μ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, expected confirmed cases 2014-17, from a negative binomial (variance μ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 + αμ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², α = 0.268). Metric: the weight w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. U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: upper 95% confidence bound for μ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. c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: % of homes with a net in i's region. A</a:t>
            </a:r>
            <a:r>
              <a:rPr baseline="-25000" sz="1150" b="0" i="0">
                <a:solidFill>
                  <a:srgbClr val="595959"/>
                </a:solidFill>
                <a:latin typeface="Candara"/>
              </a:rPr>
              <a:t>i</a:t>
            </a:r>
            <a:r>
              <a:rPr sz="1150" b="0" i="0">
                <a:solidFill>
                  <a:srgbClr val="595959"/>
                </a:solidFill>
                <a:latin typeface="Candara"/>
              </a:rPr>
              <a:t>: nets, by Hamilton's largest-remainder method.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AB3D3F"/>
                </a:solidFill>
                <a:latin typeface="Candara"/>
              </a:rPr>
              <a:t>What it does with our data</a:t>
            </a:r>
          </a:p>
          <a:p>
            <a:pPr algn="l" marL="219456" indent="-219456">
              <a:spcAft>
                <a:spcPts val="600"/>
              </a:spcAft>
              <a:buClr>
                <a:srgbClr val="AB3D3F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ndara"/>
              </a:rPr>
              <a:t>c</a:t>
            </a:r>
            <a:r>
              <a:rPr baseline="-25000" sz="1300" b="0" i="0">
                <a:solidFill>
                  <a:srgbClr val="262626"/>
                </a:solidFill>
                <a:latin typeface="Candara"/>
              </a:rPr>
              <a:t>i</a:t>
            </a:r>
            <a:r>
              <a:rPr sz="1300" b="0" i="0">
                <a:solidFill>
                  <a:srgbClr val="262626"/>
                </a:solidFill>
                <a:latin typeface="Candara"/>
              </a:rPr>
              <a:t> takes one value per region, so inside a region nets follow population: 8.5, 16.0 and 9.2 per 1,000 people.</a:t>
            </a:r>
          </a:p>
          <a:p>
            <a:pPr algn="l" marL="219456" indent="-219456">
              <a:spcAft>
                <a:spcPts val="600"/>
              </a:spcAft>
              <a:buClr>
                <a:srgbClr val="AB3D3F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ndara"/>
              </a:rPr>
              <a:t>U</a:t>
            </a:r>
            <a:r>
              <a:rPr baseline="-25000" sz="1300" b="0" i="0">
                <a:solidFill>
                  <a:srgbClr val="262626"/>
                </a:solidFill>
                <a:latin typeface="Candara"/>
              </a:rPr>
              <a:t>i</a:t>
            </a:r>
            <a:r>
              <a:rPr sz="1300" b="0" i="0">
                <a:solidFill>
                  <a:srgbClr val="262626"/>
                </a:solidFill>
                <a:latin typeface="Candara"/>
              </a:rPr>
              <a:t> = μ</a:t>
            </a:r>
            <a:r>
              <a:rPr baseline="-25000" sz="1300" b="0" i="0">
                <a:solidFill>
                  <a:srgbClr val="262626"/>
                </a:solidFill>
                <a:latin typeface="Candara"/>
              </a:rPr>
              <a:t>i</a:t>
            </a:r>
            <a:r>
              <a:rPr sz="1300" b="0" i="0">
                <a:solidFill>
                  <a:srgbClr val="262626"/>
                </a:solidFill>
                <a:latin typeface="Candara"/>
              </a:rPr>
              <a:t> × 1.20, 1.34 or 1.16: one multiplier per region, from a confidence interval for the mean.</a:t>
            </a:r>
          </a:p>
          <a:p>
            <a:pPr algn="l" marL="219456" indent="-219456">
              <a:spcAft>
                <a:spcPts val="600"/>
              </a:spcAft>
              <a:buClr>
                <a:srgbClr val="AB3D3F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Candara"/>
              </a:rPr>
              <a:t>β</a:t>
            </a:r>
            <a:r>
              <a:rPr baseline="-25000" sz="1300" b="0" i="0">
                <a:solidFill>
                  <a:srgbClr val="262626"/>
                </a:solidFill>
                <a:latin typeface="Candara"/>
              </a:rPr>
              <a:t>1</a:t>
            </a:r>
            <a:r>
              <a:rPr sz="1300" b="0" i="0">
                <a:solidFill>
                  <a:srgbClr val="262626"/>
                </a:solidFill>
                <a:latin typeface="Candara"/>
              </a:rPr>
              <a:t> = +0.082 per point: more nets went with more malaria, so the split between regions is uncertain.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040880" y="1417320"/>
          <a:ext cx="45720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0" y="53035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Candara"/>
              </a:rPr>
              <a:t>Nets per 1,000 people by region, with the share of households owning a net (DHS 2022). Upper East has the highest coverage and the most nets per person: the coefficient reflects region, not the effect of nets, so the regional split is uncertain (slide 13).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rPr sz="3000"/>
              <a:t>Where the need looks highest, and how sure we are</a:t>
            </a:r>
          </a:p>
        </p:txBody>
      </p:sp>
      <p:pic>
        <p:nvPicPr>
          <p:cNvPr id="3" name="Picture 2" descr="burde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535" y="1325880"/>
            <a:ext cx="3479744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8920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62626"/>
                </a:solidFill>
                <a:latin typeface="Candara"/>
              </a:rPr>
              <a:t>Reported burden. </a:t>
            </a:r>
            <a:r>
              <a:rPr sz="1200" b="0" i="0">
                <a:solidFill>
                  <a:srgbClr val="262626"/>
                </a:solidFill>
                <a:latin typeface="Candara"/>
              </a:rPr>
              <a:t>Confirmed cases per person, 2014-17: highest in Upper East and Upper West, lowest across Northern Region. Grey areas have no case data of their own.</a:t>
            </a:r>
          </a:p>
        </p:txBody>
      </p:sp>
      <p:pic>
        <p:nvPicPr>
          <p:cNvPr id="5" name="Picture 4" descr="uncertainty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671" y="1325880"/>
            <a:ext cx="3479744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7064" y="48920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62626"/>
                </a:solidFill>
                <a:latin typeface="Candara"/>
              </a:rPr>
              <a:t>How sure we are. </a:t>
            </a:r>
            <a:r>
              <a:rPr sz="1200" b="0" i="0">
                <a:solidFill>
                  <a:srgbClr val="262626"/>
                </a:solidFill>
                <a:latin typeface="Candara"/>
              </a:rPr>
              <a:t>Our upper bound sits 20% above the estimate in Northern, 34% in Upper East and 16% in Upper West: one number per region, because coverage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504688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AB3D3F"/>
                </a:solidFill>
                <a:latin typeface="Candara"/>
              </a:rPr>
              <a:t>Takeaway: </a:t>
            </a:r>
            <a:r>
              <a:rPr sz="1400" b="0" i="0">
                <a:solidFill>
                  <a:srgbClr val="262626"/>
                </a:solidFill>
                <a:latin typeface="Candara"/>
              </a:rPr>
              <a:t>the rule uses the upper bound, so it leans towards the region we are least sure about.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AB3D3F"/>
                </a:solidFill>
                <a:latin typeface="Candara"/>
              </a:rPr>
              <a:t>Regional totals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262626"/>
                </a:solidFill>
                <a:latin typeface="Candara"/>
              </a:rPr>
              <a:t>Northern 24,196 · Upper East 18,631 · Upper West 7,173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AB3D3F"/>
                </a:solidFill>
                <a:latin typeface="Candara"/>
              </a:rPr>
              <a:t>Largest allocations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262626"/>
                </a:solidFill>
                <a:latin typeface="Candara"/>
              </a:rPr>
              <a:t>Bolgatanga 2,350 · Garu-Tempane 2,309 · Tamale 2,175 · Kasena-Nankana 1,954 · Bawku 1,750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AB3D3F"/>
                </a:solidFill>
                <a:latin typeface="Candara"/>
              </a:rPr>
              <a:t>Smallest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Candara"/>
              </a:rPr>
              <a:t>Daffiama-Bussie-Issa, 335. Every district receives nets, and the total is exactly 50,000.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5669280" cy="825785"/>
          </a:xfrm>
        </p:spPr>
        <p:txBody>
          <a:bodyPr/>
          <a:lstStyle/>
          <a:p>
            <a:r>
              <a:rPr sz="3000"/>
              <a:t>The proposed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40080"/>
            <a:ext cx="498348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ctr"/>
          </a:p>
        </p:txBody>
      </p:sp>
      <p:pic>
        <p:nvPicPr>
          <p:cNvPr id="6" name="Picture 5" descr="allo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917800"/>
            <a:ext cx="4709160" cy="47023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Who gains, who loses,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50292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900"/>
              </a:spcAft>
              <a:buClr>
                <a:srgbClr val="AB3D3F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ndara"/>
              </a:rPr>
              <a:t>Our comparator gives nets in proportion to reported cases. It is not Ghana's practice: national campaigns allocate by population, about one net per two people.</a:t>
            </a:r>
          </a:p>
          <a:p>
            <a:pPr algn="l" marL="219456" indent="-219456">
              <a:spcAft>
                <a:spcPts val="900"/>
              </a:spcAft>
              <a:buClr>
                <a:srgbClr val="AB3D3F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ndara"/>
              </a:rPr>
              <a:t>Tamale gains most (+1,692): the largest population, and the lowest reported cases per person of all 50 districts.</a:t>
            </a:r>
          </a:p>
          <a:p>
            <a:pPr algn="l" marL="219456" indent="-219456">
              <a:spcAft>
                <a:spcPts val="900"/>
              </a:spcAft>
              <a:buClr>
                <a:srgbClr val="AB3D3F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ndara"/>
              </a:rPr>
              <a:t>Within each region, the more cases per person a district reported, the more nets per person it gives up. Nabdam and Bole, the highest in their regions, lose 761 and 376.</a:t>
            </a:r>
          </a:p>
          <a:p>
            <a:pPr algn="l" marL="219456" indent="-219456">
              <a:spcAft>
                <a:spcPts val="900"/>
              </a:spcAft>
              <a:buClr>
                <a:srgbClr val="AB3D3F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ndara"/>
              </a:rPr>
              <a:t>We treat everyone in a region as equally at risk. That is a value judgement, and we make it openly.</a:t>
            </a:r>
          </a:p>
          <a:p>
            <a:pPr algn="l" marL="219456" indent="-219456">
              <a:spcAft>
                <a:spcPts val="600"/>
              </a:spcAft>
              <a:buClr>
                <a:srgbClr val="AB3D3F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ndara"/>
              </a:rPr>
              <a:t>Referral bias at Wa and Bolgatanga is a hypothesis, not a finding: Tamale hosts the north's only tertiary hospital yet reports the lowest rate.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806440" y="1325880"/>
          <a:ext cx="58521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440" y="539496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Candara"/>
              </a:rPr>
              <a:t>Change in nets against case-proportional allocation: the five largest gains and losses.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1061243" y="571500"/>
            <a:ext cx="10067544" cy="737700"/>
          </a:xfrm>
        </p:spPr>
        <p:txBody>
          <a:bodyPr/>
          <a:lstStyle/>
          <a:p>
            <a:r>
              <a:t>What would change the answer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0704" y="1463040"/>
          <a:ext cx="10067544" cy="3429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46904"/>
                <a:gridCol w="128016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ndara"/>
                        </a:rPr>
                        <a:t>Scenario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ndara"/>
                        </a:rPr>
                        <a:t>Northern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ndara"/>
                        </a:rPr>
                        <a:t>Upper East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ndara"/>
                        </a:rPr>
                        <a:t>Upper West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ndara"/>
                        </a:rPr>
                        <a:t>Nets moved</a:t>
                      </a:r>
                    </a:p>
                  </a:txBody>
                  <a:tcPr marL="91440" marR="91440" marT="36576" marB="36576" anchor="ctr">
                    <a:solidFill>
                      <a:srgbClr val="AB3D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As proposed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24,196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18,631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7,173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baseline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Point estimate instead of the upper bound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25,095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17,240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7,665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1,391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Region-effects model (fits better: AIC 1,253.8 vs 1,286.8)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18,634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16,473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14,893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7,720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Coverage corrected for the 11 districts now in Savannah or North East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27,686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14,891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7,423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3,740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Northern coverage at its lower interval bound (61.4%)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22,939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18,596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8,465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1,292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ndara"/>
                        </a:rPr>
                        <a:t>Northern coverage at its upper interval bound (74.0%)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29,004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11,951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9,045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ndara"/>
                        </a:rPr>
                        <a:t>6,680</a:t>
                      </a:r>
                    </a:p>
                  </a:txBody>
                  <a:tcPr marL="91440" marR="91440" marT="36576" marB="36576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" y="5029200"/>
            <a:ext cx="100675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B3D3F"/>
                </a:solidFill>
                <a:latin typeface="Candara"/>
              </a:rPr>
              <a:t>Takeaway: </a:t>
            </a:r>
            <a:r>
              <a:rPr sz="1500" b="0" i="0">
                <a:solidFill>
                  <a:srgbClr val="262626"/>
                </a:solidFill>
                <a:latin typeface="Candara"/>
              </a:rPr>
              <a:t>within a region, nets follow population in every scenario except the coverage correction. The regional split is the uncertain part, so treat regional totals as a range, not a point.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rPr sz="3000"/>
              <a:t>Equity: who this helps, and who it misses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17320"/>
            <a:ext cx="5431536" cy="2057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95959"/>
                </a:solidFill>
                <a:latin typeface="Candara"/>
              </a:rPr>
              <a:t>Outside the map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AB3D3F"/>
                </a:solidFill>
                <a:latin typeface="Candara"/>
              </a:rPr>
              <a:t>207 of 260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Candara"/>
              </a:rPr>
              <a:t>of Ghana's districts have no district case data in our package. This allocation says nothing about them and should not be stretched to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0488" y="1417320"/>
            <a:ext cx="5431536" cy="2057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95959"/>
                </a:solidFill>
                <a:latin typeface="Candara"/>
              </a:rPr>
              <a:t>Testing access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AB3D3F"/>
                </a:solidFill>
                <a:latin typeface="Candara"/>
              </a:rPr>
              <a:t>65%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Candara"/>
              </a:rPr>
              <a:t>median test positivity in Northern Region, the highest of the three, yet it reports the fewest cases per person (0.27 a year, against 0.88 and 0.80). That points to under-testing, which a case-based rule would punish.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611880"/>
            <a:ext cx="5431536" cy="2057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95959"/>
                </a:solidFill>
                <a:latin typeface="Candara"/>
              </a:rPr>
              <a:t>Interventions we left out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AB3D3F"/>
                </a:solidFill>
                <a:latin typeface="Candara"/>
              </a:rPr>
              <a:t>32 and 24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Candara"/>
              </a:rPr>
              <a:t>of the 50 districts had indoor spraying and seasonal chemoprevention in 2014-17, including every Upper East and Upper West district. Both change burden, and sprayed districts are excluded from national net campaigns.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3611880"/>
            <a:ext cx="5431536" cy="20574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95959"/>
                </a:solidFill>
                <a:latin typeface="Candara"/>
              </a:rPr>
              <a:t>Privacy by design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AB3D3F"/>
                </a:solidFill>
                <a:latin typeface="Candara"/>
              </a:rPr>
              <a:t>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Candara"/>
              </a:rPr>
              <a:t>data files or notebook outputs in the project's git history. Licensed DHS household records stay out of git and out of this deck; everything shown is an aggregate.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Limitations, and what we would do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63040"/>
            <a:ext cx="5431536" cy="3749039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AB3D3F"/>
                </a:solidFill>
                <a:latin typeface="Candara"/>
              </a:rPr>
              <a:t>Limitations</a:t>
            </a:r>
          </a:p>
          <a:p>
            <a:pPr algn="l" marL="219456" indent="-219456">
              <a:spcAft>
                <a:spcPts val="8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11 districts coded Northern are now in Savannah (79.1% of households own a net) or North East (62.8%). Correcting this moves 3,740 nets.</a:t>
            </a:r>
          </a:p>
          <a:p>
            <a:pPr algn="l" marL="219456" indent="-219456">
              <a:spcAft>
                <a:spcPts val="8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39 of 50 districts report more than one confirmed case per resident over 2014-17: repeat episodes, care-seeking across district lines, or undercounted populations.</a:t>
            </a:r>
          </a:p>
          <a:p>
            <a:pPr algn="l" marL="219456" indent="-219456">
              <a:spcAft>
                <a:spcPts val="8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Coverage is from 2022 and cases from 2014-17.</a:t>
            </a:r>
          </a:p>
          <a:p>
            <a:pPr algn="l" marL="219456" indent="-219456">
              <a:spcAft>
                <a:spcPts val="6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The survey has no district identifier or parasitaemia data, and published ITN intervals are empty.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0488" y="1463040"/>
            <a:ext cx="5431536" cy="3749039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0934" bIns="160934"/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AB3D3F"/>
                </a:solidFill>
                <a:latin typeface="Candara"/>
              </a:rPr>
              <a:t>Before any real distribution</a:t>
            </a:r>
          </a:p>
          <a:p>
            <a:pPr algn="l" marL="219456" indent="-219456">
              <a:spcAft>
                <a:spcPts val="10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Refit with today's regions and district-level spraying and chemoprevention.</a:t>
            </a:r>
          </a:p>
          <a:p>
            <a:pPr algn="l" marL="219456" indent="-219456">
              <a:spcAft>
                <a:spcPts val="10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Model risk with region effects, and use coverage only in the gap term.</a:t>
            </a:r>
          </a:p>
          <a:p>
            <a:pPr algn="l" marL="219456" indent="-219456">
              <a:spcAft>
                <a:spcPts val="10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Validate by holding out whole regions, and report the spread across seeds.</a:t>
            </a:r>
          </a:p>
          <a:p>
            <a:pPr algn="l" marL="219456" indent="-219456">
              <a:spcAft>
                <a:spcPts val="600"/>
              </a:spcAft>
              <a:buClr>
                <a:srgbClr val="AB3D3F"/>
              </a:buClr>
              <a:buFont typeface="Arial"/>
              <a:buChar char="•"/>
            </a:pPr>
            <a:r>
              <a:rPr sz="1600" b="0" i="0">
                <a:solidFill>
                  <a:srgbClr val="262626"/>
                </a:solidFill>
                <a:latin typeface="Candara"/>
              </a:rPr>
              <a:t>Deliver through regional medical stores and CHPS compounds, then survey net use after six months.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off x="571500" y="571500"/>
            <a:ext cx="11055096" cy="737700"/>
          </a:xfr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5440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B3D3F"/>
                </a:solidFill>
                <a:latin typeface="Candara"/>
              </a:rPr>
              <a:t>Published sources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[1] Oppong SK, Dosoo DK, Peprah NY, et al. Fine-scale spatial mapping of urban malaria prevalence for microstratification in an urban area of Ghana. Malaria Journal 25:50 (published 18 December 2025). doi:10.1186/s12936-025-05724-9. Slide 3.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[2] Ghana Statistical Service (GSS) and ICF. Ghana Demographic and Health Survey 2022. Accra, Ghana, and Rockville, Maryland, USA: GSS and ICF; 2024. Slides 3, 6 and 13.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[3] U.S. President's Malaria Initiative. Ghana Malaria Operational Plan FY 2017. Published 25 October 2016. Slides 12 and 14.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[4] Ghana Statistical Service, Health Research Unit (Ministry of Health) and ORC Macro. Ghana Service Provision Assessment Survey 2002. Calverton, Maryland; 2003. Slide 12.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[5] Tamale Teaching Hospital. About the hospital. tth.gov.gh/about (accessed 24 September 2026). Slide 12.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[6] Ploton P, Mortier F, Réjou-Méchain M, et al. Spatial validation reveals poor predictive performance of large-scale ecological mapping models. Nature Communications 11:4540 (2020). doi:10.1038/s41467-020-18321-y. Slide 8.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[7] Kattenborn T, Schiefer F, Frey J, et al. Spatially autocorrelated training and validation samples inflate performance assessment of convolutional neural networks. ISPRS Open Journal of Photogrammetry and Remote Sensing 5:100018 (2022). doi:10.1016/j.ophoto.2022.100018. Slide 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371600"/>
            <a:ext cx="5440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B3D3F"/>
                </a:solidFill>
                <a:latin typeface="Candara"/>
              </a:rPr>
              <a:t>Data, software and code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[8] Ghana 2022 DHS household data: a de-identified extract of the household recode, used under the course's DHS data-use authorization, with the DHS subnational indicators for Ghana.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[9] Ghana Health Service routine malaria surveillance for 50 northern districts, 2014-17, from the ICS553 course data package.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[10] OCHA. Ghana subnational administrative boundaries (COD-AB), via the Humanitarian Data Exchange. Maps on slides 4, 10 and 11.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[11] Pedregosa F, et al. Scikit-learn: Machine Learning in Python. Journal of Machine Learning Research 12:2825-2830 (2011).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[12] Seabold S, Perktold J. statsmodels: Econometric and statistical modeling with Python. Proceedings of the 9th Python in Science Conference (2010).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62626"/>
                </a:solidFill>
                <a:latin typeface="Candara"/>
              </a:rPr>
              <a:t>[13] Group 3. Project repository, with the notebook cell behind every number (reports/claims_table.md) and the datasheet (reports/datasheet.md): github.com/ASU-MICS-2028/mle-group-3-prosit-1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/>
              <a:t>Thank you.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5212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EBA5A"/>
                </a:solidFill>
                <a:latin typeface="Candara"/>
              </a:rPr>
              <a:t>ICS553 Machine Learning Essentials · Group 3 · Ashesi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58064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EBA5A"/>
                </a:solidFill>
                <a:latin typeface="Candara"/>
              </a:rPr>
              <a:t>AI declaration: </a:t>
            </a:r>
            <a:r>
              <a:rPr sz="1200" b="0" i="0">
                <a:solidFill>
                  <a:srgbClr val="FFFFFF"/>
                </a:solidFill>
                <a:latin typeface="Candara"/>
              </a:rPr>
              <a:t>we used AI tools to help aggregate our information and to generate this presentation from our aggregated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7e7508-98d8-4d44-adcb-ef8e87c43aeb">
      <Terms xmlns="http://schemas.microsoft.com/office/infopath/2007/PartnerControls"/>
    </lcf76f155ced4ddcb4097134ff3c332f>
    <TaxCatchAll xmlns="029b47ac-dfc3-4a78-a146-9328422ffc2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2D7E0F094D9459F0D8AD544C81A1D" ma:contentTypeVersion="17" ma:contentTypeDescription="Create a new document." ma:contentTypeScope="" ma:versionID="acf9e738a288c12215d25aaf286ed4a9">
  <xsd:schema xmlns:xsd="http://www.w3.org/2001/XMLSchema" xmlns:xs="http://www.w3.org/2001/XMLSchema" xmlns:p="http://schemas.microsoft.com/office/2006/metadata/properties" xmlns:ns2="b37e7508-98d8-4d44-adcb-ef8e87c43aeb" xmlns:ns3="029b47ac-dfc3-4a78-a146-9328422ffc22" targetNamespace="http://schemas.microsoft.com/office/2006/metadata/properties" ma:root="true" ma:fieldsID="12a109ebfb79587208d377fc8ce12113" ns2:_="" ns3:_="">
    <xsd:import namespace="b37e7508-98d8-4d44-adcb-ef8e87c43aeb"/>
    <xsd:import namespace="029b47ac-dfc3-4a78-a146-9328422ffc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7508-98d8-4d44-adcb-ef8e87c43a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1baf4cd-5b54-4e76-b1d9-f5b4c55054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9b47ac-dfc3-4a78-a146-9328422ffc2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a5881349-7c36-4740-adab-dba0362a694f}" ma:internalName="TaxCatchAll" ma:showField="CatchAllData" ma:web="029b47ac-dfc3-4a78-a146-9328422ffc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CB51B8-E36A-48C6-A6A6-3F83B4595FB1}">
  <ds:schemaRefs>
    <ds:schemaRef ds:uri="http://schemas.microsoft.com/office/2006/metadata/properties"/>
    <ds:schemaRef ds:uri="http://schemas.microsoft.com/office/infopath/2007/PartnerControls"/>
    <ds:schemaRef ds:uri="b37e7508-98d8-4d44-adcb-ef8e87c43aeb"/>
    <ds:schemaRef ds:uri="029b47ac-dfc3-4a78-a146-9328422ffc22"/>
  </ds:schemaRefs>
</ds:datastoreItem>
</file>

<file path=customXml/itemProps2.xml><?xml version="1.0" encoding="utf-8"?>
<ds:datastoreItem xmlns:ds="http://schemas.openxmlformats.org/officeDocument/2006/customXml" ds:itemID="{62D7E678-0BDD-42C1-AEE2-4DC521AAA8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D6489D-29A2-4501-9B15-545B50B629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7e7508-98d8-4d44-adcb-ef8e87c43aeb"/>
    <ds:schemaRef ds:uri="029b47ac-dfc3-4a78-a146-9328422ffc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26</Words>
  <Application>Microsoft Macintosh PowerPoint</Application>
  <PresentationFormat>Widescreen</PresentationFormat>
  <Paragraphs>13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Candara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should 50,000 bed nets go?</dc:title>
  <dc:creator>ICS553 Group 3, Ashesi University</dc:creator>
  <cp:lastModifiedBy>Ebenezer Gwumah Buckman</cp:lastModifiedBy>
  <cp:revision>4</cp:revision>
  <dcterms:created xsi:type="dcterms:W3CDTF">2026-01-29T14:22:56Z</dcterms:created>
  <dcterms:modified xsi:type="dcterms:W3CDTF">2026-02-03T17:28:44Z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0x01010064A2D7E0F094D9459F0D8AD544C81A1D</vt:lpwstr>
  </property>
</Properties>
</file>